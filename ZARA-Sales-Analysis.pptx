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1430000" cy="647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Museo Moderno Bold" panose="020B0604020202020204" charset="0"/>
      <p:regular r:id="rId18"/>
    </p:embeddedFont>
    <p:embeddedFont>
      <p:font typeface="Museo Moderno Light" panose="020B0604020202020204" charset="0"/>
      <p:regular r:id="rId19"/>
    </p:embeddedFont>
    <p:embeddedFont>
      <p:font typeface="Museo Moderno Medium" panose="020B0604020202020204" charset="0"/>
      <p:regular r:id="rId20"/>
    </p:embeddedFont>
    <p:embeddedFont>
      <p:font typeface="Source Sans 3" panose="020B0604020202020204" charset="0"/>
      <p:regular r:id="rId21"/>
    </p:embeddedFont>
    <p:embeddedFont>
      <p:font typeface="Source Sans 3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3" d="100"/>
          <a:sy n="113" d="100"/>
        </p:scale>
        <p:origin x="74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amrupnath/zara-analysi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hyperlink" Target="https://www.linkedin.com/in/rupnath-shaw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73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44348"/>
            <a:ext cx="11556997" cy="6565897"/>
            <a:chOff x="0" y="0"/>
            <a:chExt cx="11557000" cy="6565900"/>
          </a:xfrm>
        </p:grpSpPr>
        <p:sp>
          <p:nvSpPr>
            <p:cNvPr id="3" name="Freeform 3"/>
            <p:cNvSpPr/>
            <p:nvPr/>
          </p:nvSpPr>
          <p:spPr>
            <a:xfrm>
              <a:off x="63500" y="72771"/>
              <a:ext cx="11430000" cy="6429375"/>
            </a:xfrm>
            <a:custGeom>
              <a:avLst/>
              <a:gdLst/>
              <a:ahLst/>
              <a:cxnLst/>
              <a:rect l="l" t="t" r="r" b="b"/>
              <a:pathLst>
                <a:path w="11430000" h="6429375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1430000" cy="6438900"/>
            </a:xfrm>
            <a:custGeom>
              <a:avLst/>
              <a:gdLst/>
              <a:ahLst/>
              <a:cxnLst/>
              <a:rect l="l" t="t" r="r" b="b"/>
              <a:pathLst>
                <a:path w="11430000" h="64389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0" y="28727"/>
            <a:ext cx="4537191" cy="6429375"/>
          </a:xfrm>
          <a:custGeom>
            <a:avLst/>
            <a:gdLst/>
            <a:ahLst/>
            <a:cxnLst/>
            <a:rect l="l" t="t" r="r" b="b"/>
            <a:pathLst>
              <a:path w="4537191" h="6429375">
                <a:moveTo>
                  <a:pt x="0" y="0"/>
                </a:moveTo>
                <a:lnTo>
                  <a:pt x="4537191" y="0"/>
                </a:lnTo>
                <a:lnTo>
                  <a:pt x="4537191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269" b="-13269"/>
            </a:stretch>
          </a:blipFill>
        </p:spPr>
      </p:sp>
      <p:sp>
        <p:nvSpPr>
          <p:cNvPr id="6" name="Freeform 6">
            <a:hlinkClick r:id="rId3" tooltip="https://github.com/iamrupnath/zara-analysis"/>
          </p:cNvPr>
          <p:cNvSpPr/>
          <p:nvPr/>
        </p:nvSpPr>
        <p:spPr>
          <a:xfrm>
            <a:off x="10198038" y="5702989"/>
            <a:ext cx="508681" cy="508681"/>
          </a:xfrm>
          <a:custGeom>
            <a:avLst/>
            <a:gdLst/>
            <a:ahLst/>
            <a:cxnLst/>
            <a:rect l="l" t="t" r="r" b="b"/>
            <a:pathLst>
              <a:path w="508681" h="508681">
                <a:moveTo>
                  <a:pt x="0" y="0"/>
                </a:moveTo>
                <a:lnTo>
                  <a:pt x="508681" y="0"/>
                </a:lnTo>
                <a:lnTo>
                  <a:pt x="508681" y="508681"/>
                </a:lnTo>
                <a:lnTo>
                  <a:pt x="0" y="5086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>
            <a:hlinkClick r:id="rId5" tooltip="https://www.linkedin.com/in/rupnath-shaw/"/>
          </p:cNvPr>
          <p:cNvSpPr/>
          <p:nvPr/>
        </p:nvSpPr>
        <p:spPr>
          <a:xfrm>
            <a:off x="9344061" y="5702989"/>
            <a:ext cx="508681" cy="508681"/>
          </a:xfrm>
          <a:custGeom>
            <a:avLst/>
            <a:gdLst/>
            <a:ahLst/>
            <a:cxnLst/>
            <a:rect l="l" t="t" r="r" b="b"/>
            <a:pathLst>
              <a:path w="508681" h="508681">
                <a:moveTo>
                  <a:pt x="0" y="0"/>
                </a:moveTo>
                <a:lnTo>
                  <a:pt x="508680" y="0"/>
                </a:lnTo>
                <a:lnTo>
                  <a:pt x="508680" y="508681"/>
                </a:lnTo>
                <a:lnTo>
                  <a:pt x="0" y="5086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906413" y="523532"/>
            <a:ext cx="5368003" cy="3325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40"/>
              </a:lnSpc>
            </a:pPr>
            <a:r>
              <a:rPr lang="en-US" sz="7089" b="1" dirty="0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ZARA Sales Analysis Dashboard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70163" y="3964162"/>
            <a:ext cx="71828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1"/>
              </a:lnSpc>
            </a:pPr>
            <a:r>
              <a:rPr lang="en-US" sz="2092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06413" y="4183237"/>
            <a:ext cx="5627589" cy="151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092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Comprehensive Sales and Product Insights</a:t>
            </a:r>
          </a:p>
          <a:p>
            <a:pPr algn="l">
              <a:lnSpc>
                <a:spcPts val="4350"/>
              </a:lnSpc>
            </a:pPr>
            <a:r>
              <a:rPr lang="en-US" sz="1743" b="1">
                <a:solidFill>
                  <a:srgbClr val="E9EC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Tools -</a:t>
            </a:r>
            <a:r>
              <a:rPr lang="en-US" sz="1743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Power BI Rupnath Shaw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73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44348"/>
            <a:ext cx="11556997" cy="6565897"/>
            <a:chOff x="0" y="0"/>
            <a:chExt cx="11557000" cy="6565900"/>
          </a:xfrm>
        </p:grpSpPr>
        <p:sp>
          <p:nvSpPr>
            <p:cNvPr id="3" name="Freeform 3"/>
            <p:cNvSpPr/>
            <p:nvPr/>
          </p:nvSpPr>
          <p:spPr>
            <a:xfrm>
              <a:off x="63500" y="72771"/>
              <a:ext cx="11430000" cy="6429375"/>
            </a:xfrm>
            <a:custGeom>
              <a:avLst/>
              <a:gdLst/>
              <a:ahLst/>
              <a:cxnLst/>
              <a:rect l="l" t="t" r="r" b="b"/>
              <a:pathLst>
                <a:path w="11430000" h="6429375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1430000" cy="6438900"/>
            </a:xfrm>
            <a:custGeom>
              <a:avLst/>
              <a:gdLst/>
              <a:ahLst/>
              <a:cxnLst/>
              <a:rect l="l" t="t" r="r" b="b"/>
              <a:pathLst>
                <a:path w="11430000" h="64389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7800975" y="2981173"/>
            <a:ext cx="57150" cy="57150"/>
            <a:chOff x="0" y="0"/>
            <a:chExt cx="57150" cy="571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ADB5BD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7800975" y="3609823"/>
            <a:ext cx="57150" cy="57150"/>
            <a:chOff x="0" y="0"/>
            <a:chExt cx="57150" cy="571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2926"/>
                    <a:pt x="2159" y="39497"/>
                  </a:cubicBezTo>
                  <a:cubicBezTo>
                    <a:pt x="635" y="36068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ADB5BD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7800975" y="4238473"/>
            <a:ext cx="57150" cy="57150"/>
            <a:chOff x="0" y="0"/>
            <a:chExt cx="57150" cy="571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ADB5BD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7800975" y="4581373"/>
            <a:ext cx="57150" cy="57150"/>
            <a:chOff x="0" y="0"/>
            <a:chExt cx="57150" cy="571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ADB5BD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0" y="18898"/>
            <a:ext cx="4439688" cy="6439205"/>
          </a:xfrm>
          <a:custGeom>
            <a:avLst/>
            <a:gdLst/>
            <a:ahLst/>
            <a:cxnLst/>
            <a:rect l="l" t="t" r="r" b="b"/>
            <a:pathLst>
              <a:path w="4439688" h="6439205">
                <a:moveTo>
                  <a:pt x="0" y="0"/>
                </a:moveTo>
                <a:lnTo>
                  <a:pt x="4439688" y="0"/>
                </a:lnTo>
                <a:lnTo>
                  <a:pt x="4439688" y="6439204"/>
                </a:lnTo>
                <a:lnTo>
                  <a:pt x="0" y="6439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836" b="-11836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906413" y="997301"/>
            <a:ext cx="4330284" cy="1663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5"/>
              </a:lnSpc>
            </a:pPr>
            <a:r>
              <a:rPr lang="en-US" sz="3488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Project Introduction</a:t>
            </a:r>
          </a:p>
          <a:p>
            <a:pPr algn="l">
              <a:lnSpc>
                <a:spcPts val="3689"/>
              </a:lnSpc>
            </a:pPr>
            <a:endParaRPr lang="en-US" sz="3488" b="1">
              <a:solidFill>
                <a:srgbClr val="E9ECEF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  <a:p>
            <a:pPr algn="l">
              <a:lnSpc>
                <a:spcPts val="3689"/>
              </a:lnSpc>
            </a:pPr>
            <a:r>
              <a:rPr lang="en-US" sz="2092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Objective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00833" y="2049637"/>
            <a:ext cx="71828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1"/>
              </a:lnSpc>
            </a:pPr>
            <a:r>
              <a:rPr lang="en-US" sz="2092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73684" y="2710129"/>
            <a:ext cx="36138" cy="393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66885" y="2268712"/>
            <a:ext cx="1885206" cy="36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092" b="1">
                <a:solidFill>
                  <a:srgbClr val="E9ECE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Dataset Scope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06413" y="2833954"/>
            <a:ext cx="2427932" cy="1368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Analyze Zara's sales performance, promotional effectiveness, material trends, </a:t>
            </a:r>
          </a:p>
          <a:p>
            <a:pPr algn="l">
              <a:lnSpc>
                <a:spcPts val="2399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section dynamics, and category-</a:t>
            </a:r>
          </a:p>
          <a:p>
            <a:pPr algn="l">
              <a:lnSpc>
                <a:spcPts val="2099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level insights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50263" y="2824429"/>
            <a:ext cx="2623052" cy="2165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Product attributes: price, material, section, season, origin</a:t>
            </a:r>
          </a:p>
          <a:p>
            <a:pPr algn="l">
              <a:lnSpc>
                <a:spcPts val="3149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Sales metrics: units sold, revenue, </a:t>
            </a:r>
          </a:p>
          <a:p>
            <a:pPr algn="l">
              <a:lnSpc>
                <a:spcPts val="1350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promotions</a:t>
            </a:r>
          </a:p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Profit &amp; pricing analytics</a:t>
            </a:r>
          </a:p>
          <a:p>
            <a:pPr algn="l">
              <a:lnSpc>
                <a:spcPts val="1912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Multi-dimensional performance </a:t>
            </a:r>
          </a:p>
          <a:p>
            <a:pPr algn="l">
              <a:lnSpc>
                <a:spcPts val="2587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tracking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73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44348"/>
            <a:ext cx="11556997" cy="6565897"/>
            <a:chOff x="0" y="0"/>
            <a:chExt cx="11557000" cy="6565900"/>
          </a:xfrm>
        </p:grpSpPr>
        <p:sp>
          <p:nvSpPr>
            <p:cNvPr id="3" name="Freeform 3"/>
            <p:cNvSpPr/>
            <p:nvPr/>
          </p:nvSpPr>
          <p:spPr>
            <a:xfrm>
              <a:off x="63500" y="72771"/>
              <a:ext cx="11430000" cy="6429375"/>
            </a:xfrm>
            <a:custGeom>
              <a:avLst/>
              <a:gdLst/>
              <a:ahLst/>
              <a:cxnLst/>
              <a:rect l="l" t="t" r="r" b="b"/>
              <a:pathLst>
                <a:path w="11430000" h="6429375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1430000" cy="6438900"/>
            </a:xfrm>
            <a:custGeom>
              <a:avLst/>
              <a:gdLst/>
              <a:ahLst/>
              <a:cxnLst/>
              <a:rect l="l" t="t" r="r" b="b"/>
              <a:pathLst>
                <a:path w="11430000" h="64389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4905375" y="1342873"/>
            <a:ext cx="5905500" cy="1019175"/>
            <a:chOff x="0" y="0"/>
            <a:chExt cx="5905500" cy="10191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05628" cy="1019302"/>
            </a:xfrm>
            <a:custGeom>
              <a:avLst/>
              <a:gdLst/>
              <a:ahLst/>
              <a:cxnLst/>
              <a:rect l="l" t="t" r="r" b="b"/>
              <a:pathLst>
                <a:path w="5905628" h="1019302">
                  <a:moveTo>
                    <a:pt x="0" y="997077"/>
                  </a:moveTo>
                  <a:lnTo>
                    <a:pt x="0" y="22098"/>
                  </a:lnTo>
                  <a:cubicBezTo>
                    <a:pt x="0" y="19177"/>
                    <a:pt x="508" y="16383"/>
                    <a:pt x="1651" y="13589"/>
                  </a:cubicBezTo>
                  <a:cubicBezTo>
                    <a:pt x="2794" y="10795"/>
                    <a:pt x="4445" y="8509"/>
                    <a:pt x="6477" y="6477"/>
                  </a:cubicBezTo>
                  <a:cubicBezTo>
                    <a:pt x="8509" y="4445"/>
                    <a:pt x="10922" y="2794"/>
                    <a:pt x="13716" y="1651"/>
                  </a:cubicBezTo>
                  <a:cubicBezTo>
                    <a:pt x="16510" y="508"/>
                    <a:pt x="19177" y="0"/>
                    <a:pt x="22098" y="0"/>
                  </a:cubicBezTo>
                  <a:lnTo>
                    <a:pt x="5883402" y="0"/>
                  </a:lnTo>
                  <a:cubicBezTo>
                    <a:pt x="5886323" y="0"/>
                    <a:pt x="5889117" y="508"/>
                    <a:pt x="5891911" y="1651"/>
                  </a:cubicBezTo>
                  <a:cubicBezTo>
                    <a:pt x="5894705" y="2794"/>
                    <a:pt x="5896991" y="4318"/>
                    <a:pt x="5899150" y="6477"/>
                  </a:cubicBezTo>
                  <a:cubicBezTo>
                    <a:pt x="5901310" y="8636"/>
                    <a:pt x="5902833" y="10922"/>
                    <a:pt x="5903976" y="13716"/>
                  </a:cubicBezTo>
                  <a:cubicBezTo>
                    <a:pt x="5905119" y="16510"/>
                    <a:pt x="5905628" y="19304"/>
                    <a:pt x="5905628" y="22225"/>
                  </a:cubicBezTo>
                  <a:lnTo>
                    <a:pt x="5905628" y="997077"/>
                  </a:lnTo>
                  <a:cubicBezTo>
                    <a:pt x="5905628" y="999998"/>
                    <a:pt x="5905119" y="1002792"/>
                    <a:pt x="5903976" y="1005586"/>
                  </a:cubicBezTo>
                  <a:cubicBezTo>
                    <a:pt x="5902833" y="1008380"/>
                    <a:pt x="5901310" y="1010666"/>
                    <a:pt x="5899150" y="1012825"/>
                  </a:cubicBezTo>
                  <a:cubicBezTo>
                    <a:pt x="5896991" y="1014984"/>
                    <a:pt x="5894705" y="1016508"/>
                    <a:pt x="5891911" y="1017651"/>
                  </a:cubicBezTo>
                  <a:cubicBezTo>
                    <a:pt x="5889117" y="1018794"/>
                    <a:pt x="5886323" y="1019302"/>
                    <a:pt x="5883402" y="1019302"/>
                  </a:cubicBezTo>
                  <a:lnTo>
                    <a:pt x="22098" y="1019302"/>
                  </a:lnTo>
                  <a:cubicBezTo>
                    <a:pt x="19177" y="1019302"/>
                    <a:pt x="16383" y="1018794"/>
                    <a:pt x="13589" y="1017651"/>
                  </a:cubicBezTo>
                  <a:cubicBezTo>
                    <a:pt x="10795" y="1016508"/>
                    <a:pt x="8509" y="1014984"/>
                    <a:pt x="6350" y="1012825"/>
                  </a:cubicBezTo>
                  <a:cubicBezTo>
                    <a:pt x="4191" y="1010666"/>
                    <a:pt x="2667" y="1008380"/>
                    <a:pt x="1524" y="1005586"/>
                  </a:cubicBezTo>
                  <a:cubicBezTo>
                    <a:pt x="381" y="1002792"/>
                    <a:pt x="0" y="999998"/>
                    <a:pt x="0" y="997077"/>
                  </a:cubicBezTo>
                </a:path>
              </a:pathLst>
            </a:custGeom>
            <a:solidFill>
              <a:srgbClr val="495057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4905375" y="2543023"/>
            <a:ext cx="5905500" cy="1019175"/>
            <a:chOff x="0" y="0"/>
            <a:chExt cx="5905500" cy="10191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905628" cy="1019302"/>
            </a:xfrm>
            <a:custGeom>
              <a:avLst/>
              <a:gdLst/>
              <a:ahLst/>
              <a:cxnLst/>
              <a:rect l="l" t="t" r="r" b="b"/>
              <a:pathLst>
                <a:path w="5905628" h="1019302">
                  <a:moveTo>
                    <a:pt x="0" y="997077"/>
                  </a:moveTo>
                  <a:lnTo>
                    <a:pt x="0" y="22098"/>
                  </a:lnTo>
                  <a:cubicBezTo>
                    <a:pt x="0" y="19177"/>
                    <a:pt x="508" y="16383"/>
                    <a:pt x="1651" y="13589"/>
                  </a:cubicBezTo>
                  <a:cubicBezTo>
                    <a:pt x="2794" y="10795"/>
                    <a:pt x="4445" y="8509"/>
                    <a:pt x="6477" y="6477"/>
                  </a:cubicBezTo>
                  <a:cubicBezTo>
                    <a:pt x="8509" y="4445"/>
                    <a:pt x="10922" y="2794"/>
                    <a:pt x="13716" y="1651"/>
                  </a:cubicBezTo>
                  <a:cubicBezTo>
                    <a:pt x="16510" y="508"/>
                    <a:pt x="19177" y="0"/>
                    <a:pt x="22098" y="0"/>
                  </a:cubicBezTo>
                  <a:lnTo>
                    <a:pt x="5883402" y="0"/>
                  </a:lnTo>
                  <a:cubicBezTo>
                    <a:pt x="5886323" y="0"/>
                    <a:pt x="5889117" y="508"/>
                    <a:pt x="5891911" y="1651"/>
                  </a:cubicBezTo>
                  <a:cubicBezTo>
                    <a:pt x="5894705" y="2794"/>
                    <a:pt x="5896991" y="4318"/>
                    <a:pt x="5899150" y="6477"/>
                  </a:cubicBezTo>
                  <a:cubicBezTo>
                    <a:pt x="5901310" y="8636"/>
                    <a:pt x="5902833" y="10922"/>
                    <a:pt x="5903976" y="13716"/>
                  </a:cubicBezTo>
                  <a:cubicBezTo>
                    <a:pt x="5905119" y="16510"/>
                    <a:pt x="5905628" y="19304"/>
                    <a:pt x="5905628" y="22225"/>
                  </a:cubicBezTo>
                  <a:lnTo>
                    <a:pt x="5905628" y="997077"/>
                  </a:lnTo>
                  <a:cubicBezTo>
                    <a:pt x="5905628" y="999998"/>
                    <a:pt x="5905119" y="1002792"/>
                    <a:pt x="5903976" y="1005586"/>
                  </a:cubicBezTo>
                  <a:cubicBezTo>
                    <a:pt x="5902833" y="1008380"/>
                    <a:pt x="5901310" y="1010666"/>
                    <a:pt x="5899150" y="1012825"/>
                  </a:cubicBezTo>
                  <a:cubicBezTo>
                    <a:pt x="5896991" y="1014984"/>
                    <a:pt x="5894705" y="1016508"/>
                    <a:pt x="5891911" y="1017651"/>
                  </a:cubicBezTo>
                  <a:cubicBezTo>
                    <a:pt x="5889117" y="1018794"/>
                    <a:pt x="5886323" y="1019302"/>
                    <a:pt x="5883402" y="1019302"/>
                  </a:cubicBezTo>
                  <a:lnTo>
                    <a:pt x="22098" y="1019302"/>
                  </a:lnTo>
                  <a:cubicBezTo>
                    <a:pt x="19177" y="1019302"/>
                    <a:pt x="16383" y="1018794"/>
                    <a:pt x="13589" y="1017651"/>
                  </a:cubicBezTo>
                  <a:cubicBezTo>
                    <a:pt x="10795" y="1016508"/>
                    <a:pt x="8509" y="1014984"/>
                    <a:pt x="6350" y="1012825"/>
                  </a:cubicBezTo>
                  <a:cubicBezTo>
                    <a:pt x="4191" y="1010666"/>
                    <a:pt x="2667" y="1008380"/>
                    <a:pt x="1524" y="1005586"/>
                  </a:cubicBezTo>
                  <a:cubicBezTo>
                    <a:pt x="381" y="1002792"/>
                    <a:pt x="0" y="999998"/>
                    <a:pt x="0" y="997077"/>
                  </a:cubicBezTo>
                </a:path>
              </a:pathLst>
            </a:custGeom>
            <a:solidFill>
              <a:srgbClr val="495057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905375" y="3733648"/>
            <a:ext cx="5905500" cy="1019175"/>
            <a:chOff x="0" y="0"/>
            <a:chExt cx="5905500" cy="10191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05628" cy="1019302"/>
            </a:xfrm>
            <a:custGeom>
              <a:avLst/>
              <a:gdLst/>
              <a:ahLst/>
              <a:cxnLst/>
              <a:rect l="l" t="t" r="r" b="b"/>
              <a:pathLst>
                <a:path w="5905628" h="1019302">
                  <a:moveTo>
                    <a:pt x="0" y="997077"/>
                  </a:moveTo>
                  <a:lnTo>
                    <a:pt x="0" y="22098"/>
                  </a:lnTo>
                  <a:cubicBezTo>
                    <a:pt x="0" y="19177"/>
                    <a:pt x="508" y="16383"/>
                    <a:pt x="1651" y="13589"/>
                  </a:cubicBezTo>
                  <a:cubicBezTo>
                    <a:pt x="2794" y="10795"/>
                    <a:pt x="4445" y="8509"/>
                    <a:pt x="6477" y="6477"/>
                  </a:cubicBezTo>
                  <a:cubicBezTo>
                    <a:pt x="8509" y="4445"/>
                    <a:pt x="10922" y="2794"/>
                    <a:pt x="13716" y="1651"/>
                  </a:cubicBezTo>
                  <a:cubicBezTo>
                    <a:pt x="16510" y="508"/>
                    <a:pt x="19177" y="0"/>
                    <a:pt x="22098" y="0"/>
                  </a:cubicBezTo>
                  <a:lnTo>
                    <a:pt x="5883402" y="0"/>
                  </a:lnTo>
                  <a:cubicBezTo>
                    <a:pt x="5886323" y="0"/>
                    <a:pt x="5889117" y="508"/>
                    <a:pt x="5891911" y="1651"/>
                  </a:cubicBezTo>
                  <a:cubicBezTo>
                    <a:pt x="5894705" y="2794"/>
                    <a:pt x="5896991" y="4318"/>
                    <a:pt x="5899150" y="6477"/>
                  </a:cubicBezTo>
                  <a:cubicBezTo>
                    <a:pt x="5901310" y="8636"/>
                    <a:pt x="5902833" y="10922"/>
                    <a:pt x="5903976" y="13716"/>
                  </a:cubicBezTo>
                  <a:cubicBezTo>
                    <a:pt x="5905119" y="16510"/>
                    <a:pt x="5905628" y="19304"/>
                    <a:pt x="5905628" y="22225"/>
                  </a:cubicBezTo>
                  <a:lnTo>
                    <a:pt x="5905628" y="997077"/>
                  </a:lnTo>
                  <a:cubicBezTo>
                    <a:pt x="5905628" y="999998"/>
                    <a:pt x="5905119" y="1002792"/>
                    <a:pt x="5903976" y="1005586"/>
                  </a:cubicBezTo>
                  <a:cubicBezTo>
                    <a:pt x="5902833" y="1008380"/>
                    <a:pt x="5901310" y="1010666"/>
                    <a:pt x="5899150" y="1012825"/>
                  </a:cubicBezTo>
                  <a:cubicBezTo>
                    <a:pt x="5896991" y="1014984"/>
                    <a:pt x="5894705" y="1016508"/>
                    <a:pt x="5891911" y="1017651"/>
                  </a:cubicBezTo>
                  <a:cubicBezTo>
                    <a:pt x="5889117" y="1018794"/>
                    <a:pt x="5886323" y="1019302"/>
                    <a:pt x="5883402" y="1019302"/>
                  </a:cubicBezTo>
                  <a:lnTo>
                    <a:pt x="22098" y="1019302"/>
                  </a:lnTo>
                  <a:cubicBezTo>
                    <a:pt x="19177" y="1019302"/>
                    <a:pt x="16383" y="1018794"/>
                    <a:pt x="13589" y="1017651"/>
                  </a:cubicBezTo>
                  <a:cubicBezTo>
                    <a:pt x="10795" y="1016508"/>
                    <a:pt x="8509" y="1014984"/>
                    <a:pt x="6350" y="1012825"/>
                  </a:cubicBezTo>
                  <a:cubicBezTo>
                    <a:pt x="4191" y="1010666"/>
                    <a:pt x="2667" y="1008380"/>
                    <a:pt x="1524" y="1005586"/>
                  </a:cubicBezTo>
                  <a:cubicBezTo>
                    <a:pt x="381" y="1002792"/>
                    <a:pt x="0" y="999998"/>
                    <a:pt x="0" y="997077"/>
                  </a:cubicBezTo>
                </a:path>
              </a:pathLst>
            </a:custGeom>
            <a:solidFill>
              <a:srgbClr val="495057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4905375" y="4933798"/>
            <a:ext cx="5905500" cy="1019175"/>
            <a:chOff x="0" y="0"/>
            <a:chExt cx="5905500" cy="10191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05628" cy="1019302"/>
            </a:xfrm>
            <a:custGeom>
              <a:avLst/>
              <a:gdLst/>
              <a:ahLst/>
              <a:cxnLst/>
              <a:rect l="l" t="t" r="r" b="b"/>
              <a:pathLst>
                <a:path w="5905628" h="1019302">
                  <a:moveTo>
                    <a:pt x="0" y="997077"/>
                  </a:moveTo>
                  <a:lnTo>
                    <a:pt x="0" y="22098"/>
                  </a:lnTo>
                  <a:cubicBezTo>
                    <a:pt x="0" y="19177"/>
                    <a:pt x="508" y="16383"/>
                    <a:pt x="1651" y="13589"/>
                  </a:cubicBezTo>
                  <a:cubicBezTo>
                    <a:pt x="2794" y="10795"/>
                    <a:pt x="4445" y="8509"/>
                    <a:pt x="6477" y="6477"/>
                  </a:cubicBezTo>
                  <a:cubicBezTo>
                    <a:pt x="8509" y="4445"/>
                    <a:pt x="10922" y="2794"/>
                    <a:pt x="13716" y="1651"/>
                  </a:cubicBezTo>
                  <a:cubicBezTo>
                    <a:pt x="16510" y="508"/>
                    <a:pt x="19177" y="0"/>
                    <a:pt x="22098" y="0"/>
                  </a:cubicBezTo>
                  <a:lnTo>
                    <a:pt x="5883402" y="0"/>
                  </a:lnTo>
                  <a:cubicBezTo>
                    <a:pt x="5886323" y="0"/>
                    <a:pt x="5889117" y="508"/>
                    <a:pt x="5891911" y="1651"/>
                  </a:cubicBezTo>
                  <a:cubicBezTo>
                    <a:pt x="5894705" y="2794"/>
                    <a:pt x="5896991" y="4318"/>
                    <a:pt x="5899150" y="6477"/>
                  </a:cubicBezTo>
                  <a:cubicBezTo>
                    <a:pt x="5901310" y="8636"/>
                    <a:pt x="5902833" y="10922"/>
                    <a:pt x="5903976" y="13716"/>
                  </a:cubicBezTo>
                  <a:cubicBezTo>
                    <a:pt x="5905119" y="16510"/>
                    <a:pt x="5905628" y="19304"/>
                    <a:pt x="5905628" y="22225"/>
                  </a:cubicBezTo>
                  <a:lnTo>
                    <a:pt x="5905628" y="997077"/>
                  </a:lnTo>
                  <a:cubicBezTo>
                    <a:pt x="5905628" y="999998"/>
                    <a:pt x="5905119" y="1002792"/>
                    <a:pt x="5903976" y="1005586"/>
                  </a:cubicBezTo>
                  <a:cubicBezTo>
                    <a:pt x="5902833" y="1008380"/>
                    <a:pt x="5901310" y="1010666"/>
                    <a:pt x="5899150" y="1012825"/>
                  </a:cubicBezTo>
                  <a:cubicBezTo>
                    <a:pt x="5896991" y="1014984"/>
                    <a:pt x="5894705" y="1016508"/>
                    <a:pt x="5891911" y="1017651"/>
                  </a:cubicBezTo>
                  <a:cubicBezTo>
                    <a:pt x="5889117" y="1018794"/>
                    <a:pt x="5886323" y="1019302"/>
                    <a:pt x="5883402" y="1019302"/>
                  </a:cubicBezTo>
                  <a:lnTo>
                    <a:pt x="22098" y="1019302"/>
                  </a:lnTo>
                  <a:cubicBezTo>
                    <a:pt x="19177" y="1019302"/>
                    <a:pt x="16383" y="1018794"/>
                    <a:pt x="13589" y="1017651"/>
                  </a:cubicBezTo>
                  <a:cubicBezTo>
                    <a:pt x="10795" y="1016508"/>
                    <a:pt x="8509" y="1014984"/>
                    <a:pt x="6350" y="1012825"/>
                  </a:cubicBezTo>
                  <a:cubicBezTo>
                    <a:pt x="4191" y="1010666"/>
                    <a:pt x="2667" y="1008380"/>
                    <a:pt x="1524" y="1005586"/>
                  </a:cubicBezTo>
                  <a:cubicBezTo>
                    <a:pt x="381" y="1002792"/>
                    <a:pt x="0" y="999998"/>
                    <a:pt x="0" y="997077"/>
                  </a:cubicBezTo>
                </a:path>
              </a:pathLst>
            </a:custGeom>
            <a:solidFill>
              <a:srgbClr val="495057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-63503" y="0"/>
            <a:ext cx="4657725" cy="6458102"/>
          </a:xfrm>
          <a:custGeom>
            <a:avLst/>
            <a:gdLst/>
            <a:ahLst/>
            <a:cxnLst/>
            <a:rect l="l" t="t" r="r" b="b"/>
            <a:pathLst>
              <a:path w="4657725" h="6727495">
                <a:moveTo>
                  <a:pt x="0" y="0"/>
                </a:moveTo>
                <a:lnTo>
                  <a:pt x="4657725" y="0"/>
                </a:lnTo>
                <a:lnTo>
                  <a:pt x="4657725" y="6727495"/>
                </a:lnTo>
                <a:lnTo>
                  <a:pt x="0" y="6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964" b="-10222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906413" y="514102"/>
            <a:ext cx="4048820" cy="50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3488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Dataset Summary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13681" y="1261920"/>
            <a:ext cx="59855" cy="506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9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83521" y="2585895"/>
            <a:ext cx="1464869" cy="38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Sales Metrics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50300" y="2986354"/>
            <a:ext cx="36138" cy="33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83521" y="1376220"/>
            <a:ext cx="2056914" cy="39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Product-Level Data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97763" y="1786204"/>
            <a:ext cx="36138" cy="346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83521" y="4986195"/>
            <a:ext cx="2314880" cy="38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Performance Tracking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93844" y="5386664"/>
            <a:ext cx="36138" cy="33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83521" y="3786045"/>
            <a:ext cx="3038161" cy="38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Multi-Dimensional Analysis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38098" y="4186504"/>
            <a:ext cx="36138" cy="33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083521" y="4272229"/>
            <a:ext cx="4428530" cy="24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Seasons, materials, store locations, price bands, positioning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83521" y="5472389"/>
            <a:ext cx="4775150" cy="24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Promotions, pricing strategies, product positioning effectiveness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083521" y="1881454"/>
            <a:ext cx="4800600" cy="24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Price, material, section, season, promotional status for each item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083521" y="3072079"/>
            <a:ext cx="5021163" cy="24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Total sales, units sold, profit calculations tracked across dimensions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371321" y="1514813"/>
            <a:ext cx="5905500" cy="1019175"/>
            <a:chOff x="0" y="0"/>
            <a:chExt cx="5905500" cy="10191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05628" cy="1019302"/>
            </a:xfrm>
            <a:custGeom>
              <a:avLst/>
              <a:gdLst/>
              <a:ahLst/>
              <a:cxnLst/>
              <a:rect l="l" t="t" r="r" b="b"/>
              <a:pathLst>
                <a:path w="5905628" h="1019302">
                  <a:moveTo>
                    <a:pt x="0" y="997077"/>
                  </a:moveTo>
                  <a:lnTo>
                    <a:pt x="0" y="22098"/>
                  </a:lnTo>
                  <a:cubicBezTo>
                    <a:pt x="0" y="19177"/>
                    <a:pt x="508" y="16383"/>
                    <a:pt x="1651" y="13589"/>
                  </a:cubicBezTo>
                  <a:cubicBezTo>
                    <a:pt x="2794" y="10795"/>
                    <a:pt x="4445" y="8509"/>
                    <a:pt x="6477" y="6477"/>
                  </a:cubicBezTo>
                  <a:cubicBezTo>
                    <a:pt x="8509" y="4445"/>
                    <a:pt x="10922" y="2794"/>
                    <a:pt x="13716" y="1651"/>
                  </a:cubicBezTo>
                  <a:cubicBezTo>
                    <a:pt x="16510" y="508"/>
                    <a:pt x="19177" y="0"/>
                    <a:pt x="22098" y="0"/>
                  </a:cubicBezTo>
                  <a:lnTo>
                    <a:pt x="5883402" y="0"/>
                  </a:lnTo>
                  <a:cubicBezTo>
                    <a:pt x="5886323" y="0"/>
                    <a:pt x="5889117" y="508"/>
                    <a:pt x="5891911" y="1651"/>
                  </a:cubicBezTo>
                  <a:cubicBezTo>
                    <a:pt x="5894705" y="2794"/>
                    <a:pt x="5896991" y="4318"/>
                    <a:pt x="5899150" y="6477"/>
                  </a:cubicBezTo>
                  <a:cubicBezTo>
                    <a:pt x="5901310" y="8636"/>
                    <a:pt x="5902833" y="10922"/>
                    <a:pt x="5903976" y="13716"/>
                  </a:cubicBezTo>
                  <a:cubicBezTo>
                    <a:pt x="5905119" y="16510"/>
                    <a:pt x="5905628" y="19304"/>
                    <a:pt x="5905628" y="22225"/>
                  </a:cubicBezTo>
                  <a:lnTo>
                    <a:pt x="5905628" y="997077"/>
                  </a:lnTo>
                  <a:cubicBezTo>
                    <a:pt x="5905628" y="999998"/>
                    <a:pt x="5905119" y="1002792"/>
                    <a:pt x="5903976" y="1005586"/>
                  </a:cubicBezTo>
                  <a:cubicBezTo>
                    <a:pt x="5902833" y="1008380"/>
                    <a:pt x="5901310" y="1010666"/>
                    <a:pt x="5899150" y="1012825"/>
                  </a:cubicBezTo>
                  <a:cubicBezTo>
                    <a:pt x="5896991" y="1014984"/>
                    <a:pt x="5894705" y="1016508"/>
                    <a:pt x="5891911" y="1017651"/>
                  </a:cubicBezTo>
                  <a:cubicBezTo>
                    <a:pt x="5889117" y="1018794"/>
                    <a:pt x="5886323" y="1019302"/>
                    <a:pt x="5883402" y="1019302"/>
                  </a:cubicBezTo>
                  <a:lnTo>
                    <a:pt x="22098" y="1019302"/>
                  </a:lnTo>
                  <a:cubicBezTo>
                    <a:pt x="19177" y="1019302"/>
                    <a:pt x="16383" y="1018794"/>
                    <a:pt x="13589" y="1017651"/>
                  </a:cubicBezTo>
                  <a:cubicBezTo>
                    <a:pt x="10795" y="1016508"/>
                    <a:pt x="8509" y="1014984"/>
                    <a:pt x="6350" y="1012825"/>
                  </a:cubicBezTo>
                  <a:cubicBezTo>
                    <a:pt x="4191" y="1010666"/>
                    <a:pt x="2667" y="1008380"/>
                    <a:pt x="1524" y="1005586"/>
                  </a:cubicBezTo>
                  <a:cubicBezTo>
                    <a:pt x="381" y="1002792"/>
                    <a:pt x="0" y="999998"/>
                    <a:pt x="0" y="997077"/>
                  </a:cubicBezTo>
                </a:path>
              </a:pathLst>
            </a:custGeom>
            <a:solidFill>
              <a:srgbClr val="495057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371321" y="2714963"/>
            <a:ext cx="5905500" cy="1019175"/>
            <a:chOff x="0" y="0"/>
            <a:chExt cx="5905500" cy="10191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05628" cy="1019302"/>
            </a:xfrm>
            <a:custGeom>
              <a:avLst/>
              <a:gdLst/>
              <a:ahLst/>
              <a:cxnLst/>
              <a:rect l="l" t="t" r="r" b="b"/>
              <a:pathLst>
                <a:path w="5905628" h="1019302">
                  <a:moveTo>
                    <a:pt x="0" y="997077"/>
                  </a:moveTo>
                  <a:lnTo>
                    <a:pt x="0" y="22098"/>
                  </a:lnTo>
                  <a:cubicBezTo>
                    <a:pt x="0" y="19177"/>
                    <a:pt x="508" y="16383"/>
                    <a:pt x="1651" y="13589"/>
                  </a:cubicBezTo>
                  <a:cubicBezTo>
                    <a:pt x="2794" y="10795"/>
                    <a:pt x="4445" y="8509"/>
                    <a:pt x="6477" y="6477"/>
                  </a:cubicBezTo>
                  <a:cubicBezTo>
                    <a:pt x="8509" y="4445"/>
                    <a:pt x="10922" y="2794"/>
                    <a:pt x="13716" y="1651"/>
                  </a:cubicBezTo>
                  <a:cubicBezTo>
                    <a:pt x="16510" y="508"/>
                    <a:pt x="19177" y="0"/>
                    <a:pt x="22098" y="0"/>
                  </a:cubicBezTo>
                  <a:lnTo>
                    <a:pt x="5883402" y="0"/>
                  </a:lnTo>
                  <a:cubicBezTo>
                    <a:pt x="5886323" y="0"/>
                    <a:pt x="5889117" y="508"/>
                    <a:pt x="5891911" y="1651"/>
                  </a:cubicBezTo>
                  <a:cubicBezTo>
                    <a:pt x="5894705" y="2794"/>
                    <a:pt x="5896991" y="4318"/>
                    <a:pt x="5899150" y="6477"/>
                  </a:cubicBezTo>
                  <a:cubicBezTo>
                    <a:pt x="5901310" y="8636"/>
                    <a:pt x="5902833" y="10922"/>
                    <a:pt x="5903976" y="13716"/>
                  </a:cubicBezTo>
                  <a:cubicBezTo>
                    <a:pt x="5905119" y="16510"/>
                    <a:pt x="5905628" y="19304"/>
                    <a:pt x="5905628" y="22225"/>
                  </a:cubicBezTo>
                  <a:lnTo>
                    <a:pt x="5905628" y="997077"/>
                  </a:lnTo>
                  <a:cubicBezTo>
                    <a:pt x="5905628" y="999998"/>
                    <a:pt x="5905119" y="1002792"/>
                    <a:pt x="5903976" y="1005586"/>
                  </a:cubicBezTo>
                  <a:cubicBezTo>
                    <a:pt x="5902833" y="1008380"/>
                    <a:pt x="5901310" y="1010666"/>
                    <a:pt x="5899150" y="1012825"/>
                  </a:cubicBezTo>
                  <a:cubicBezTo>
                    <a:pt x="5896991" y="1014984"/>
                    <a:pt x="5894705" y="1016508"/>
                    <a:pt x="5891911" y="1017651"/>
                  </a:cubicBezTo>
                  <a:cubicBezTo>
                    <a:pt x="5889117" y="1018794"/>
                    <a:pt x="5886323" y="1019302"/>
                    <a:pt x="5883402" y="1019302"/>
                  </a:cubicBezTo>
                  <a:lnTo>
                    <a:pt x="22098" y="1019302"/>
                  </a:lnTo>
                  <a:cubicBezTo>
                    <a:pt x="19177" y="1019302"/>
                    <a:pt x="16383" y="1018794"/>
                    <a:pt x="13589" y="1017651"/>
                  </a:cubicBezTo>
                  <a:cubicBezTo>
                    <a:pt x="10795" y="1016508"/>
                    <a:pt x="8509" y="1014984"/>
                    <a:pt x="6350" y="1012825"/>
                  </a:cubicBezTo>
                  <a:cubicBezTo>
                    <a:pt x="4191" y="1010666"/>
                    <a:pt x="2667" y="1008380"/>
                    <a:pt x="1524" y="1005586"/>
                  </a:cubicBezTo>
                  <a:cubicBezTo>
                    <a:pt x="381" y="1002792"/>
                    <a:pt x="0" y="999998"/>
                    <a:pt x="0" y="997077"/>
                  </a:cubicBezTo>
                </a:path>
              </a:pathLst>
            </a:custGeom>
            <a:solidFill>
              <a:srgbClr val="495057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371321" y="3905588"/>
            <a:ext cx="5905500" cy="1019175"/>
            <a:chOff x="0" y="0"/>
            <a:chExt cx="5905500" cy="1019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05628" cy="1019302"/>
            </a:xfrm>
            <a:custGeom>
              <a:avLst/>
              <a:gdLst/>
              <a:ahLst/>
              <a:cxnLst/>
              <a:rect l="l" t="t" r="r" b="b"/>
              <a:pathLst>
                <a:path w="5905628" h="1019302">
                  <a:moveTo>
                    <a:pt x="0" y="997077"/>
                  </a:moveTo>
                  <a:lnTo>
                    <a:pt x="0" y="22098"/>
                  </a:lnTo>
                  <a:cubicBezTo>
                    <a:pt x="0" y="19177"/>
                    <a:pt x="508" y="16383"/>
                    <a:pt x="1651" y="13589"/>
                  </a:cubicBezTo>
                  <a:cubicBezTo>
                    <a:pt x="2794" y="10795"/>
                    <a:pt x="4445" y="8509"/>
                    <a:pt x="6477" y="6477"/>
                  </a:cubicBezTo>
                  <a:cubicBezTo>
                    <a:pt x="8509" y="4445"/>
                    <a:pt x="10922" y="2794"/>
                    <a:pt x="13716" y="1651"/>
                  </a:cubicBezTo>
                  <a:cubicBezTo>
                    <a:pt x="16510" y="508"/>
                    <a:pt x="19177" y="0"/>
                    <a:pt x="22098" y="0"/>
                  </a:cubicBezTo>
                  <a:lnTo>
                    <a:pt x="5883402" y="0"/>
                  </a:lnTo>
                  <a:cubicBezTo>
                    <a:pt x="5886323" y="0"/>
                    <a:pt x="5889117" y="508"/>
                    <a:pt x="5891911" y="1651"/>
                  </a:cubicBezTo>
                  <a:cubicBezTo>
                    <a:pt x="5894705" y="2794"/>
                    <a:pt x="5896991" y="4318"/>
                    <a:pt x="5899150" y="6477"/>
                  </a:cubicBezTo>
                  <a:cubicBezTo>
                    <a:pt x="5901310" y="8636"/>
                    <a:pt x="5902833" y="10922"/>
                    <a:pt x="5903976" y="13716"/>
                  </a:cubicBezTo>
                  <a:cubicBezTo>
                    <a:pt x="5905119" y="16510"/>
                    <a:pt x="5905628" y="19304"/>
                    <a:pt x="5905628" y="22225"/>
                  </a:cubicBezTo>
                  <a:lnTo>
                    <a:pt x="5905628" y="997077"/>
                  </a:lnTo>
                  <a:cubicBezTo>
                    <a:pt x="5905628" y="999998"/>
                    <a:pt x="5905119" y="1002792"/>
                    <a:pt x="5903976" y="1005586"/>
                  </a:cubicBezTo>
                  <a:cubicBezTo>
                    <a:pt x="5902833" y="1008380"/>
                    <a:pt x="5901310" y="1010666"/>
                    <a:pt x="5899150" y="1012825"/>
                  </a:cubicBezTo>
                  <a:cubicBezTo>
                    <a:pt x="5896991" y="1014984"/>
                    <a:pt x="5894705" y="1016508"/>
                    <a:pt x="5891911" y="1017651"/>
                  </a:cubicBezTo>
                  <a:cubicBezTo>
                    <a:pt x="5889117" y="1018794"/>
                    <a:pt x="5886323" y="1019302"/>
                    <a:pt x="5883402" y="1019302"/>
                  </a:cubicBezTo>
                  <a:lnTo>
                    <a:pt x="22098" y="1019302"/>
                  </a:lnTo>
                  <a:cubicBezTo>
                    <a:pt x="19177" y="1019302"/>
                    <a:pt x="16383" y="1018794"/>
                    <a:pt x="13589" y="1017651"/>
                  </a:cubicBezTo>
                  <a:cubicBezTo>
                    <a:pt x="10795" y="1016508"/>
                    <a:pt x="8509" y="1014984"/>
                    <a:pt x="6350" y="1012825"/>
                  </a:cubicBezTo>
                  <a:cubicBezTo>
                    <a:pt x="4191" y="1010666"/>
                    <a:pt x="2667" y="1008380"/>
                    <a:pt x="1524" y="1005586"/>
                  </a:cubicBezTo>
                  <a:cubicBezTo>
                    <a:pt x="381" y="1002792"/>
                    <a:pt x="0" y="999998"/>
                    <a:pt x="0" y="997077"/>
                  </a:cubicBezTo>
                </a:path>
              </a:pathLst>
            </a:custGeom>
            <a:solidFill>
              <a:srgbClr val="495057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371321" y="5105738"/>
            <a:ext cx="5905500" cy="1019175"/>
            <a:chOff x="0" y="0"/>
            <a:chExt cx="5905500" cy="10191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05628" cy="1019302"/>
            </a:xfrm>
            <a:custGeom>
              <a:avLst/>
              <a:gdLst/>
              <a:ahLst/>
              <a:cxnLst/>
              <a:rect l="l" t="t" r="r" b="b"/>
              <a:pathLst>
                <a:path w="5905628" h="1019302">
                  <a:moveTo>
                    <a:pt x="0" y="997077"/>
                  </a:moveTo>
                  <a:lnTo>
                    <a:pt x="0" y="22098"/>
                  </a:lnTo>
                  <a:cubicBezTo>
                    <a:pt x="0" y="19177"/>
                    <a:pt x="508" y="16383"/>
                    <a:pt x="1651" y="13589"/>
                  </a:cubicBezTo>
                  <a:cubicBezTo>
                    <a:pt x="2794" y="10795"/>
                    <a:pt x="4445" y="8509"/>
                    <a:pt x="6477" y="6477"/>
                  </a:cubicBezTo>
                  <a:cubicBezTo>
                    <a:pt x="8509" y="4445"/>
                    <a:pt x="10922" y="2794"/>
                    <a:pt x="13716" y="1651"/>
                  </a:cubicBezTo>
                  <a:cubicBezTo>
                    <a:pt x="16510" y="508"/>
                    <a:pt x="19177" y="0"/>
                    <a:pt x="22098" y="0"/>
                  </a:cubicBezTo>
                  <a:lnTo>
                    <a:pt x="5883402" y="0"/>
                  </a:lnTo>
                  <a:cubicBezTo>
                    <a:pt x="5886323" y="0"/>
                    <a:pt x="5889117" y="508"/>
                    <a:pt x="5891911" y="1651"/>
                  </a:cubicBezTo>
                  <a:cubicBezTo>
                    <a:pt x="5894705" y="2794"/>
                    <a:pt x="5896991" y="4318"/>
                    <a:pt x="5899150" y="6477"/>
                  </a:cubicBezTo>
                  <a:cubicBezTo>
                    <a:pt x="5901310" y="8636"/>
                    <a:pt x="5902833" y="10922"/>
                    <a:pt x="5903976" y="13716"/>
                  </a:cubicBezTo>
                  <a:cubicBezTo>
                    <a:pt x="5905119" y="16510"/>
                    <a:pt x="5905628" y="19304"/>
                    <a:pt x="5905628" y="22225"/>
                  </a:cubicBezTo>
                  <a:lnTo>
                    <a:pt x="5905628" y="997077"/>
                  </a:lnTo>
                  <a:cubicBezTo>
                    <a:pt x="5905628" y="999998"/>
                    <a:pt x="5905119" y="1002792"/>
                    <a:pt x="5903976" y="1005586"/>
                  </a:cubicBezTo>
                  <a:cubicBezTo>
                    <a:pt x="5902833" y="1008380"/>
                    <a:pt x="5901310" y="1010666"/>
                    <a:pt x="5899150" y="1012825"/>
                  </a:cubicBezTo>
                  <a:cubicBezTo>
                    <a:pt x="5896991" y="1014984"/>
                    <a:pt x="5894705" y="1016508"/>
                    <a:pt x="5891911" y="1017651"/>
                  </a:cubicBezTo>
                  <a:cubicBezTo>
                    <a:pt x="5889117" y="1018794"/>
                    <a:pt x="5886323" y="1019302"/>
                    <a:pt x="5883402" y="1019302"/>
                  </a:cubicBezTo>
                  <a:lnTo>
                    <a:pt x="22098" y="1019302"/>
                  </a:lnTo>
                  <a:cubicBezTo>
                    <a:pt x="19177" y="1019302"/>
                    <a:pt x="16383" y="1018794"/>
                    <a:pt x="13589" y="1017651"/>
                  </a:cubicBezTo>
                  <a:cubicBezTo>
                    <a:pt x="10795" y="1016508"/>
                    <a:pt x="8509" y="1014984"/>
                    <a:pt x="6350" y="1012825"/>
                  </a:cubicBezTo>
                  <a:cubicBezTo>
                    <a:pt x="4191" y="1010666"/>
                    <a:pt x="2667" y="1008380"/>
                    <a:pt x="1524" y="1005586"/>
                  </a:cubicBezTo>
                  <a:cubicBezTo>
                    <a:pt x="381" y="1002792"/>
                    <a:pt x="0" y="999998"/>
                    <a:pt x="0" y="997077"/>
                  </a:cubicBezTo>
                </a:path>
              </a:pathLst>
            </a:custGeom>
            <a:solidFill>
              <a:srgbClr val="495057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6749445" y="45792"/>
            <a:ext cx="4657725" cy="6412311"/>
          </a:xfrm>
          <a:custGeom>
            <a:avLst/>
            <a:gdLst/>
            <a:ahLst/>
            <a:cxnLst/>
            <a:rect l="l" t="t" r="r" b="b"/>
            <a:pathLst>
              <a:path w="4657725" h="6412311">
                <a:moveTo>
                  <a:pt x="0" y="0"/>
                </a:moveTo>
                <a:lnTo>
                  <a:pt x="4657725" y="0"/>
                </a:lnTo>
                <a:lnTo>
                  <a:pt x="4657725" y="6412310"/>
                </a:lnTo>
                <a:lnTo>
                  <a:pt x="0" y="6412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45" b="-15145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71321" y="355727"/>
            <a:ext cx="6725536" cy="89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3488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Data Cleaning &amp; Transformation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79627" y="1433860"/>
            <a:ext cx="59855" cy="506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9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9467" y="2757835"/>
            <a:ext cx="1745159" cy="35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Standardization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6247" y="3158295"/>
            <a:ext cx="36138" cy="33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9467" y="1548160"/>
            <a:ext cx="893266" cy="366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Profiling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3710" y="1958145"/>
            <a:ext cx="36138" cy="346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9467" y="5158135"/>
            <a:ext cx="1165622" cy="35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Calculation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59791" y="5558605"/>
            <a:ext cx="36138" cy="33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9467" y="3957985"/>
            <a:ext cx="1245394" cy="35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Integration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4044" y="4358445"/>
            <a:ext cx="36138" cy="33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9467" y="4444170"/>
            <a:ext cx="2555081" cy="24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Merged tables, unpivoted columns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9467" y="5644330"/>
            <a:ext cx="3482578" cy="24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Created Promotion %, Profit %, unified schema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9467" y="2053395"/>
            <a:ext cx="3146227" cy="24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Identified missing values &amp; inconsistencies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9467" y="3244020"/>
            <a:ext cx="3697486" cy="24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Text fields cleaned, nulls handled, types corrected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73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8898"/>
            <a:ext cx="11430000" cy="6515100"/>
          </a:xfrm>
          <a:custGeom>
            <a:avLst/>
            <a:gdLst/>
            <a:ahLst/>
            <a:cxnLst/>
            <a:rect l="l" t="t" r="r" b="b"/>
            <a:pathLst>
              <a:path w="11430000" h="6515100">
                <a:moveTo>
                  <a:pt x="0" y="0"/>
                </a:moveTo>
                <a:lnTo>
                  <a:pt x="11430000" y="0"/>
                </a:lnTo>
                <a:lnTo>
                  <a:pt x="11430000" y="6515100"/>
                </a:lnTo>
                <a:lnTo>
                  <a:pt x="0" y="651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73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44348"/>
            <a:ext cx="11556997" cy="6565897"/>
          </a:xfrm>
          <a:custGeom>
            <a:avLst/>
            <a:gdLst/>
            <a:ahLst/>
            <a:cxnLst/>
            <a:rect l="l" t="t" r="r" b="b"/>
            <a:pathLst>
              <a:path w="11556997" h="6565897">
                <a:moveTo>
                  <a:pt x="0" y="0"/>
                </a:moveTo>
                <a:lnTo>
                  <a:pt x="11556997" y="0"/>
                </a:lnTo>
                <a:lnTo>
                  <a:pt x="11556997" y="6565896"/>
                </a:lnTo>
                <a:lnTo>
                  <a:pt x="0" y="65658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20163" y="1199902"/>
            <a:ext cx="6448625" cy="50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3488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Sales Overview: Key Insights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72015" y="2062020"/>
            <a:ext cx="59855" cy="84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59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 </a:t>
            </a:r>
          </a:p>
          <a:p>
            <a:pPr algn="r">
              <a:lnSpc>
                <a:spcPts val="2861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3471" y="3976545"/>
            <a:ext cx="2013318" cy="39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Promotion Impact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5454" y="4386529"/>
            <a:ext cx="36138" cy="346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3471" y="2185845"/>
            <a:ext cx="2457860" cy="38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Seasonal Performance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28960" y="3976545"/>
            <a:ext cx="1288447" cy="39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Profitability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13363" y="4386529"/>
            <a:ext cx="36138" cy="346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28960" y="2185845"/>
            <a:ext cx="1414491" cy="38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Top Products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24535" y="2586304"/>
            <a:ext cx="36138" cy="33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84602" y="2185845"/>
            <a:ext cx="2077241" cy="38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Section Dominance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99758" y="2589495"/>
            <a:ext cx="36138" cy="33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394" b="1">
                <a:solidFill>
                  <a:srgbClr val="325F7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3471" y="4462729"/>
            <a:ext cx="1916706" cy="517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50% of sales occurduring promotional periods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3471" y="2643454"/>
            <a:ext cx="2622137" cy="85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Autumn leadsas best-performing season; Summer shows significant drop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28960" y="4462729"/>
            <a:ext cx="2745400" cy="517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Consistent 40% profit margin across categories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28960" y="2643454"/>
            <a:ext cx="2902515" cy="555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Plaid Overshirt &amp; Asymmetrical Jacket drive highest revenue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84602" y="2646645"/>
            <a:ext cx="2726829" cy="269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Women's section contributes 68% of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84602" y="2932395"/>
            <a:ext cx="756642" cy="269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total sales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73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44348"/>
            <a:ext cx="11556997" cy="6565897"/>
          </a:xfrm>
          <a:custGeom>
            <a:avLst/>
            <a:gdLst/>
            <a:ahLst/>
            <a:cxnLst/>
            <a:rect l="l" t="t" r="r" b="b"/>
            <a:pathLst>
              <a:path w="11556997" h="6565897">
                <a:moveTo>
                  <a:pt x="0" y="0"/>
                </a:moveTo>
                <a:lnTo>
                  <a:pt x="11556997" y="0"/>
                </a:lnTo>
                <a:lnTo>
                  <a:pt x="11556997" y="6565896"/>
                </a:lnTo>
                <a:lnTo>
                  <a:pt x="0" y="65658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841" y="18898"/>
            <a:ext cx="11408159" cy="6439205"/>
          </a:xfrm>
          <a:custGeom>
            <a:avLst/>
            <a:gdLst/>
            <a:ahLst/>
            <a:cxnLst/>
            <a:rect l="l" t="t" r="r" b="b"/>
            <a:pathLst>
              <a:path w="11408159" h="6439205">
                <a:moveTo>
                  <a:pt x="0" y="0"/>
                </a:moveTo>
                <a:lnTo>
                  <a:pt x="11408159" y="0"/>
                </a:lnTo>
                <a:lnTo>
                  <a:pt x="11408159" y="6439204"/>
                </a:lnTo>
                <a:lnTo>
                  <a:pt x="0" y="64392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92" b="-492"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73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44348"/>
            <a:ext cx="11556997" cy="6565897"/>
            <a:chOff x="0" y="0"/>
            <a:chExt cx="11557000" cy="6565900"/>
          </a:xfrm>
        </p:grpSpPr>
        <p:sp>
          <p:nvSpPr>
            <p:cNvPr id="3" name="Freeform 3"/>
            <p:cNvSpPr/>
            <p:nvPr/>
          </p:nvSpPr>
          <p:spPr>
            <a:xfrm>
              <a:off x="63500" y="72771"/>
              <a:ext cx="11430000" cy="6429375"/>
            </a:xfrm>
            <a:custGeom>
              <a:avLst/>
              <a:gdLst/>
              <a:ahLst/>
              <a:cxnLst/>
              <a:rect l="l" t="t" r="r" b="b"/>
              <a:pathLst>
                <a:path w="11430000" h="6429375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1430000" cy="6438900"/>
            </a:xfrm>
            <a:custGeom>
              <a:avLst/>
              <a:gdLst/>
              <a:ahLst/>
              <a:cxnLst/>
              <a:rect l="l" t="t" r="r" b="b"/>
              <a:pathLst>
                <a:path w="11430000" h="64389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8172450" y="3028798"/>
            <a:ext cx="2647950" cy="2647950"/>
            <a:chOff x="0" y="0"/>
            <a:chExt cx="3530600" cy="3530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30600" cy="3530473"/>
            </a:xfrm>
            <a:custGeom>
              <a:avLst/>
              <a:gdLst/>
              <a:ahLst/>
              <a:cxnLst/>
              <a:rect l="l" t="t" r="r" b="b"/>
              <a:pathLst>
                <a:path w="3530600" h="3530473">
                  <a:moveTo>
                    <a:pt x="29591" y="0"/>
                  </a:moveTo>
                  <a:cubicBezTo>
                    <a:pt x="21336" y="0"/>
                    <a:pt x="14351" y="2921"/>
                    <a:pt x="8636" y="8636"/>
                  </a:cubicBezTo>
                  <a:cubicBezTo>
                    <a:pt x="2921" y="14351"/>
                    <a:pt x="0" y="21336"/>
                    <a:pt x="0" y="29591"/>
                  </a:cubicBezTo>
                  <a:lnTo>
                    <a:pt x="0" y="3501009"/>
                  </a:lnTo>
                  <a:cubicBezTo>
                    <a:pt x="0" y="3509137"/>
                    <a:pt x="2921" y="3516122"/>
                    <a:pt x="8636" y="3521837"/>
                  </a:cubicBezTo>
                  <a:cubicBezTo>
                    <a:pt x="14351" y="3527553"/>
                    <a:pt x="21209" y="3530347"/>
                    <a:pt x="29210" y="3530473"/>
                  </a:cubicBezTo>
                  <a:lnTo>
                    <a:pt x="3501390" y="3530473"/>
                  </a:lnTo>
                  <a:cubicBezTo>
                    <a:pt x="3509391" y="3530346"/>
                    <a:pt x="3516249" y="3527552"/>
                    <a:pt x="3521964" y="3521837"/>
                  </a:cubicBezTo>
                  <a:cubicBezTo>
                    <a:pt x="3527679" y="3516123"/>
                    <a:pt x="3530600" y="3509137"/>
                    <a:pt x="3530600" y="3501009"/>
                  </a:cubicBezTo>
                  <a:lnTo>
                    <a:pt x="3530600" y="29591"/>
                  </a:lnTo>
                  <a:cubicBezTo>
                    <a:pt x="3530600" y="21463"/>
                    <a:pt x="3527679" y="14478"/>
                    <a:pt x="3521964" y="8763"/>
                  </a:cubicBezTo>
                  <a:cubicBezTo>
                    <a:pt x="3516249" y="3048"/>
                    <a:pt x="3509264" y="127"/>
                    <a:pt x="3501136" y="127"/>
                  </a:cubicBezTo>
                  <a:close/>
                </a:path>
              </a:pathLst>
            </a:custGeom>
            <a:blipFill>
              <a:blip r:embed="rId2"/>
              <a:stretch>
                <a:fillRect b="-3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20163" y="590302"/>
            <a:ext cx="6626619" cy="50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3488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Product Performance: Insights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46079" y="1433370"/>
            <a:ext cx="59855" cy="506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9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0163" y="1557195"/>
            <a:ext cx="2195608" cy="38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Material Leadership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9790" y="1957654"/>
            <a:ext cx="36138" cy="33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90540" y="1557195"/>
            <a:ext cx="2587057" cy="38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Price Band Performance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13747" y="1957654"/>
            <a:ext cx="36138" cy="33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0916" y="1557195"/>
            <a:ext cx="2644216" cy="38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Promotion Effectiveness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58189" y="1957654"/>
            <a:ext cx="36138" cy="33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0163" y="2014804"/>
            <a:ext cx="3053867" cy="555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Wool &amp;Cotton dominate material-based sales performance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90540" y="2014804"/>
            <a:ext cx="3179712" cy="555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Medium-priced products generate highest revenue contribution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0163" y="3462604"/>
            <a:ext cx="7021897" cy="565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High-unit products correlate strongly with promotional activity. Material composition directly impacts profitability margins.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0916" y="2014804"/>
            <a:ext cx="2670274" cy="269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Promotions significantly boost sales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60916" y="2300554"/>
            <a:ext cx="1899542" cy="2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performance and volume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0163" y="2916412"/>
            <a:ext cx="1546222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092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Key Finding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73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44348"/>
            <a:ext cx="11556997" cy="6565897"/>
          </a:xfrm>
          <a:custGeom>
            <a:avLst/>
            <a:gdLst/>
            <a:ahLst/>
            <a:cxnLst/>
            <a:rect l="l" t="t" r="r" b="b"/>
            <a:pathLst>
              <a:path w="11556997" h="6565897">
                <a:moveTo>
                  <a:pt x="0" y="0"/>
                </a:moveTo>
                <a:lnTo>
                  <a:pt x="11556997" y="0"/>
                </a:lnTo>
                <a:lnTo>
                  <a:pt x="11556997" y="6565896"/>
                </a:lnTo>
                <a:lnTo>
                  <a:pt x="0" y="65658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8898"/>
            <a:ext cx="11430000" cy="6502651"/>
          </a:xfrm>
          <a:custGeom>
            <a:avLst/>
            <a:gdLst/>
            <a:ahLst/>
            <a:cxnLst/>
            <a:rect l="l" t="t" r="r" b="b"/>
            <a:pathLst>
              <a:path w="11430000" h="6502651">
                <a:moveTo>
                  <a:pt x="0" y="0"/>
                </a:moveTo>
                <a:lnTo>
                  <a:pt x="11430000" y="0"/>
                </a:lnTo>
                <a:lnTo>
                  <a:pt x="11430000" y="6502650"/>
                </a:lnTo>
                <a:lnTo>
                  <a:pt x="0" y="6502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5" b="-95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4924425" y="5153025"/>
            <a:ext cx="57150" cy="57150"/>
            <a:chOff x="0" y="0"/>
            <a:chExt cx="57150" cy="571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ADB5BD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4924425" y="5467350"/>
            <a:ext cx="57150" cy="57150"/>
            <a:chOff x="0" y="0"/>
            <a:chExt cx="57150" cy="571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ADB5BD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4924425" y="5772150"/>
            <a:ext cx="57150" cy="57150"/>
            <a:chOff x="0" y="0"/>
            <a:chExt cx="57150" cy="571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ADB5BD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7365997" y="4556122"/>
            <a:ext cx="3517897" cy="1317622"/>
            <a:chOff x="0" y="0"/>
            <a:chExt cx="3517900" cy="1317625"/>
          </a:xfrm>
        </p:grpSpPr>
        <p:sp>
          <p:nvSpPr>
            <p:cNvPr id="10" name="Freeform 10"/>
            <p:cNvSpPr/>
            <p:nvPr/>
          </p:nvSpPr>
          <p:spPr>
            <a:xfrm>
              <a:off x="63500" y="63500"/>
              <a:ext cx="3390900" cy="1190625"/>
            </a:xfrm>
            <a:custGeom>
              <a:avLst/>
              <a:gdLst/>
              <a:ahLst/>
              <a:cxnLst/>
              <a:rect l="l" t="t" r="r" b="b"/>
              <a:pathLst>
                <a:path w="3390900" h="1190625">
                  <a:moveTo>
                    <a:pt x="0" y="1170686"/>
                  </a:moveTo>
                  <a:lnTo>
                    <a:pt x="0" y="19939"/>
                  </a:lnTo>
                  <a:cubicBezTo>
                    <a:pt x="0" y="17272"/>
                    <a:pt x="508" y="14732"/>
                    <a:pt x="1524" y="12319"/>
                  </a:cubicBezTo>
                  <a:cubicBezTo>
                    <a:pt x="2540" y="9906"/>
                    <a:pt x="3937" y="7747"/>
                    <a:pt x="5842" y="5842"/>
                  </a:cubicBezTo>
                  <a:cubicBezTo>
                    <a:pt x="7747" y="3937"/>
                    <a:pt x="9906" y="2540"/>
                    <a:pt x="12319" y="1524"/>
                  </a:cubicBezTo>
                  <a:cubicBezTo>
                    <a:pt x="14732" y="508"/>
                    <a:pt x="17272" y="0"/>
                    <a:pt x="19939" y="0"/>
                  </a:cubicBezTo>
                  <a:lnTo>
                    <a:pt x="3370961" y="0"/>
                  </a:lnTo>
                  <a:cubicBezTo>
                    <a:pt x="3373628" y="0"/>
                    <a:pt x="3376168" y="508"/>
                    <a:pt x="3378581" y="1524"/>
                  </a:cubicBezTo>
                  <a:cubicBezTo>
                    <a:pt x="3380994" y="2540"/>
                    <a:pt x="3383153" y="3937"/>
                    <a:pt x="3385058" y="5842"/>
                  </a:cubicBezTo>
                  <a:cubicBezTo>
                    <a:pt x="3386963" y="7747"/>
                    <a:pt x="3388360" y="9906"/>
                    <a:pt x="3389376" y="12319"/>
                  </a:cubicBezTo>
                  <a:cubicBezTo>
                    <a:pt x="3390392" y="14732"/>
                    <a:pt x="3390900" y="17272"/>
                    <a:pt x="3390900" y="19939"/>
                  </a:cubicBezTo>
                  <a:lnTo>
                    <a:pt x="3390900" y="1170686"/>
                  </a:lnTo>
                  <a:cubicBezTo>
                    <a:pt x="3390900" y="1173353"/>
                    <a:pt x="3390392" y="1175893"/>
                    <a:pt x="3389376" y="1178306"/>
                  </a:cubicBezTo>
                  <a:cubicBezTo>
                    <a:pt x="3388360" y="1180719"/>
                    <a:pt x="3386963" y="1182878"/>
                    <a:pt x="3385058" y="1184783"/>
                  </a:cubicBezTo>
                  <a:cubicBezTo>
                    <a:pt x="3383153" y="1186688"/>
                    <a:pt x="3380994" y="1188085"/>
                    <a:pt x="3378581" y="1189101"/>
                  </a:cubicBezTo>
                  <a:cubicBezTo>
                    <a:pt x="3376168" y="1190117"/>
                    <a:pt x="3373628" y="1190625"/>
                    <a:pt x="3370961" y="1190625"/>
                  </a:cubicBezTo>
                  <a:lnTo>
                    <a:pt x="19939" y="1190625"/>
                  </a:lnTo>
                  <a:cubicBezTo>
                    <a:pt x="17272" y="1190625"/>
                    <a:pt x="14732" y="1190117"/>
                    <a:pt x="12319" y="1189101"/>
                  </a:cubicBezTo>
                  <a:cubicBezTo>
                    <a:pt x="9906" y="1188085"/>
                    <a:pt x="7747" y="1186688"/>
                    <a:pt x="5842" y="1184783"/>
                  </a:cubicBezTo>
                  <a:cubicBezTo>
                    <a:pt x="3937" y="1182878"/>
                    <a:pt x="2540" y="1180719"/>
                    <a:pt x="1524" y="1178306"/>
                  </a:cubicBezTo>
                  <a:cubicBezTo>
                    <a:pt x="508" y="1175893"/>
                    <a:pt x="0" y="1173353"/>
                    <a:pt x="0" y="1170686"/>
                  </a:cubicBezTo>
                </a:path>
              </a:pathLst>
            </a:custGeom>
            <a:solidFill>
              <a:srgbClr val="ADB5BD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55270" y="302006"/>
              <a:ext cx="139446" cy="139573"/>
            </a:xfrm>
            <a:custGeom>
              <a:avLst/>
              <a:gdLst/>
              <a:ahLst/>
              <a:cxnLst/>
              <a:rect l="l" t="t" r="r" b="b"/>
              <a:pathLst>
                <a:path w="139446" h="139573">
                  <a:moveTo>
                    <a:pt x="19939" y="14986"/>
                  </a:moveTo>
                  <a:cubicBezTo>
                    <a:pt x="17145" y="14986"/>
                    <a:pt x="14986" y="17272"/>
                    <a:pt x="14986" y="19939"/>
                  </a:cubicBezTo>
                  <a:lnTo>
                    <a:pt x="14986" y="119634"/>
                  </a:lnTo>
                  <a:cubicBezTo>
                    <a:pt x="14986" y="122428"/>
                    <a:pt x="17272" y="124587"/>
                    <a:pt x="19939" y="124587"/>
                  </a:cubicBezTo>
                  <a:lnTo>
                    <a:pt x="89662" y="124587"/>
                  </a:lnTo>
                  <a:lnTo>
                    <a:pt x="89662" y="99695"/>
                  </a:lnTo>
                  <a:cubicBezTo>
                    <a:pt x="89662" y="94234"/>
                    <a:pt x="94107" y="89662"/>
                    <a:pt x="99695" y="89662"/>
                  </a:cubicBezTo>
                  <a:lnTo>
                    <a:pt x="124587" y="89662"/>
                  </a:lnTo>
                  <a:lnTo>
                    <a:pt x="124587" y="19939"/>
                  </a:lnTo>
                  <a:cubicBezTo>
                    <a:pt x="124587" y="17145"/>
                    <a:pt x="122301" y="14986"/>
                    <a:pt x="119634" y="14986"/>
                  </a:cubicBezTo>
                  <a:lnTo>
                    <a:pt x="19939" y="14986"/>
                  </a:lnTo>
                  <a:close/>
                  <a:moveTo>
                    <a:pt x="89662" y="139573"/>
                  </a:moveTo>
                  <a:lnTo>
                    <a:pt x="19939" y="139573"/>
                  </a:lnTo>
                  <a:cubicBezTo>
                    <a:pt x="9017" y="139573"/>
                    <a:pt x="0" y="130683"/>
                    <a:pt x="0" y="119634"/>
                  </a:cubicBezTo>
                  <a:lnTo>
                    <a:pt x="0" y="19939"/>
                  </a:lnTo>
                  <a:cubicBezTo>
                    <a:pt x="0" y="8890"/>
                    <a:pt x="8890" y="0"/>
                    <a:pt x="19939" y="0"/>
                  </a:cubicBezTo>
                  <a:lnTo>
                    <a:pt x="119507" y="0"/>
                  </a:lnTo>
                  <a:cubicBezTo>
                    <a:pt x="130429" y="0"/>
                    <a:pt x="139446" y="8890"/>
                    <a:pt x="139446" y="19939"/>
                  </a:cubicBezTo>
                  <a:lnTo>
                    <a:pt x="139446" y="89662"/>
                  </a:lnTo>
                  <a:lnTo>
                    <a:pt x="139446" y="91440"/>
                  </a:lnTo>
                  <a:cubicBezTo>
                    <a:pt x="139446" y="96774"/>
                    <a:pt x="137414" y="101854"/>
                    <a:pt x="133604" y="105537"/>
                  </a:cubicBezTo>
                  <a:lnTo>
                    <a:pt x="105410" y="133731"/>
                  </a:lnTo>
                  <a:cubicBezTo>
                    <a:pt x="101727" y="137414"/>
                    <a:pt x="96647" y="139573"/>
                    <a:pt x="91313" y="139573"/>
                  </a:cubicBezTo>
                  <a:lnTo>
                    <a:pt x="89535" y="139573"/>
                  </a:lnTo>
                </a:path>
              </a:pathLst>
            </a:custGeom>
            <a:solidFill>
              <a:srgbClr val="2C546D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4841872" y="1660522"/>
            <a:ext cx="6032497" cy="2660647"/>
            <a:chOff x="0" y="0"/>
            <a:chExt cx="6032500" cy="2660650"/>
          </a:xfrm>
        </p:grpSpPr>
        <p:sp>
          <p:nvSpPr>
            <p:cNvPr id="13" name="Freeform 13"/>
            <p:cNvSpPr/>
            <p:nvPr/>
          </p:nvSpPr>
          <p:spPr>
            <a:xfrm>
              <a:off x="63500" y="63500"/>
              <a:ext cx="5905500" cy="2533650"/>
            </a:xfrm>
            <a:custGeom>
              <a:avLst/>
              <a:gdLst/>
              <a:ahLst/>
              <a:cxnLst/>
              <a:rect l="l" t="t" r="r" b="b"/>
              <a:pathLst>
                <a:path w="5905500" h="2533650">
                  <a:moveTo>
                    <a:pt x="0" y="2513711"/>
                  </a:moveTo>
                  <a:lnTo>
                    <a:pt x="0" y="19939"/>
                  </a:lnTo>
                  <a:cubicBezTo>
                    <a:pt x="0" y="17272"/>
                    <a:pt x="508" y="14732"/>
                    <a:pt x="1524" y="12319"/>
                  </a:cubicBezTo>
                  <a:cubicBezTo>
                    <a:pt x="2540" y="9906"/>
                    <a:pt x="3937" y="7747"/>
                    <a:pt x="5842" y="5842"/>
                  </a:cubicBezTo>
                  <a:cubicBezTo>
                    <a:pt x="7747" y="3937"/>
                    <a:pt x="9906" y="2540"/>
                    <a:pt x="12319" y="1524"/>
                  </a:cubicBezTo>
                  <a:cubicBezTo>
                    <a:pt x="14732" y="508"/>
                    <a:pt x="17272" y="0"/>
                    <a:pt x="19939" y="0"/>
                  </a:cubicBezTo>
                  <a:lnTo>
                    <a:pt x="5885561" y="0"/>
                  </a:lnTo>
                  <a:cubicBezTo>
                    <a:pt x="5888228" y="0"/>
                    <a:pt x="5890768" y="508"/>
                    <a:pt x="5893181" y="1524"/>
                  </a:cubicBezTo>
                  <a:cubicBezTo>
                    <a:pt x="5895594" y="2540"/>
                    <a:pt x="5897753" y="3937"/>
                    <a:pt x="5899658" y="5842"/>
                  </a:cubicBezTo>
                  <a:cubicBezTo>
                    <a:pt x="5901563" y="7747"/>
                    <a:pt x="5902960" y="9906"/>
                    <a:pt x="5903976" y="12319"/>
                  </a:cubicBezTo>
                  <a:cubicBezTo>
                    <a:pt x="5904992" y="14732"/>
                    <a:pt x="5905500" y="17272"/>
                    <a:pt x="5905500" y="19939"/>
                  </a:cubicBezTo>
                  <a:lnTo>
                    <a:pt x="5905500" y="2513711"/>
                  </a:lnTo>
                  <a:cubicBezTo>
                    <a:pt x="5905500" y="2516378"/>
                    <a:pt x="5904992" y="2518918"/>
                    <a:pt x="5903976" y="2521331"/>
                  </a:cubicBezTo>
                  <a:cubicBezTo>
                    <a:pt x="5902960" y="2523744"/>
                    <a:pt x="5901563" y="2525903"/>
                    <a:pt x="5899658" y="2527808"/>
                  </a:cubicBezTo>
                  <a:cubicBezTo>
                    <a:pt x="5897753" y="2529713"/>
                    <a:pt x="5895594" y="2531110"/>
                    <a:pt x="5893181" y="2532126"/>
                  </a:cubicBezTo>
                  <a:cubicBezTo>
                    <a:pt x="5890768" y="2533142"/>
                    <a:pt x="5888228" y="2533650"/>
                    <a:pt x="5885561" y="2533650"/>
                  </a:cubicBezTo>
                  <a:lnTo>
                    <a:pt x="19939" y="2533650"/>
                  </a:lnTo>
                  <a:cubicBezTo>
                    <a:pt x="17272" y="2533650"/>
                    <a:pt x="14732" y="2533142"/>
                    <a:pt x="12319" y="2532126"/>
                  </a:cubicBezTo>
                  <a:cubicBezTo>
                    <a:pt x="9906" y="2531110"/>
                    <a:pt x="7747" y="2529713"/>
                    <a:pt x="5842" y="2527808"/>
                  </a:cubicBezTo>
                  <a:cubicBezTo>
                    <a:pt x="3937" y="2525903"/>
                    <a:pt x="2540" y="2523744"/>
                    <a:pt x="1524" y="2521331"/>
                  </a:cubicBezTo>
                  <a:cubicBezTo>
                    <a:pt x="508" y="2518918"/>
                    <a:pt x="0" y="2516378"/>
                    <a:pt x="0" y="2513711"/>
                  </a:cubicBezTo>
                </a:path>
              </a:pathLst>
            </a:custGeom>
            <a:solidFill>
              <a:srgbClr val="495057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63500" y="63500"/>
              <a:ext cx="2952750" cy="1266825"/>
            </a:xfrm>
            <a:custGeom>
              <a:avLst/>
              <a:gdLst/>
              <a:ahLst/>
              <a:cxnLst/>
              <a:rect l="l" t="t" r="r" b="b"/>
              <a:pathLst>
                <a:path w="2952750" h="1266825">
                  <a:moveTo>
                    <a:pt x="0" y="1266825"/>
                  </a:moveTo>
                  <a:lnTo>
                    <a:pt x="0" y="19939"/>
                  </a:lnTo>
                  <a:cubicBezTo>
                    <a:pt x="0" y="17272"/>
                    <a:pt x="508" y="14732"/>
                    <a:pt x="1524" y="12319"/>
                  </a:cubicBezTo>
                  <a:cubicBezTo>
                    <a:pt x="2540" y="9906"/>
                    <a:pt x="3937" y="7747"/>
                    <a:pt x="5842" y="5842"/>
                  </a:cubicBezTo>
                  <a:cubicBezTo>
                    <a:pt x="7747" y="3937"/>
                    <a:pt x="9906" y="2540"/>
                    <a:pt x="12319" y="1524"/>
                  </a:cubicBezTo>
                  <a:cubicBezTo>
                    <a:pt x="14732" y="508"/>
                    <a:pt x="17272" y="0"/>
                    <a:pt x="19939" y="0"/>
                  </a:cubicBezTo>
                  <a:lnTo>
                    <a:pt x="2952750" y="0"/>
                  </a:lnTo>
                  <a:lnTo>
                    <a:pt x="2952750" y="1266825"/>
                  </a:lnTo>
                  <a:lnTo>
                    <a:pt x="0" y="1266825"/>
                  </a:lnTo>
                </a:path>
              </a:pathLst>
            </a:custGeom>
            <a:solidFill>
              <a:srgbClr val="495057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3016250" y="63500"/>
              <a:ext cx="2952750" cy="1266825"/>
            </a:xfrm>
            <a:custGeom>
              <a:avLst/>
              <a:gdLst/>
              <a:ahLst/>
              <a:cxnLst/>
              <a:rect l="l" t="t" r="r" b="b"/>
              <a:pathLst>
                <a:path w="2952750" h="1266825">
                  <a:moveTo>
                    <a:pt x="0" y="1266825"/>
                  </a:moveTo>
                  <a:lnTo>
                    <a:pt x="0" y="0"/>
                  </a:lnTo>
                  <a:lnTo>
                    <a:pt x="2932811" y="0"/>
                  </a:lnTo>
                  <a:cubicBezTo>
                    <a:pt x="2935478" y="0"/>
                    <a:pt x="2938018" y="508"/>
                    <a:pt x="2940431" y="1524"/>
                  </a:cubicBezTo>
                  <a:cubicBezTo>
                    <a:pt x="2942844" y="2540"/>
                    <a:pt x="2945003" y="3937"/>
                    <a:pt x="2946908" y="5842"/>
                  </a:cubicBezTo>
                  <a:cubicBezTo>
                    <a:pt x="2948813" y="7747"/>
                    <a:pt x="2950210" y="9906"/>
                    <a:pt x="2951226" y="12319"/>
                  </a:cubicBezTo>
                  <a:cubicBezTo>
                    <a:pt x="2952242" y="14732"/>
                    <a:pt x="2952750" y="17272"/>
                    <a:pt x="2952750" y="19939"/>
                  </a:cubicBezTo>
                  <a:lnTo>
                    <a:pt x="2952750" y="1266825"/>
                  </a:lnTo>
                  <a:lnTo>
                    <a:pt x="0" y="1266825"/>
                  </a:lnTo>
                </a:path>
              </a:pathLst>
            </a:custGeom>
            <a:solidFill>
              <a:srgbClr val="495057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3016250" y="63500"/>
              <a:ext cx="19050" cy="1266825"/>
            </a:xfrm>
            <a:custGeom>
              <a:avLst/>
              <a:gdLst/>
              <a:ahLst/>
              <a:cxnLst/>
              <a:rect l="l" t="t" r="r" b="b"/>
              <a:pathLst>
                <a:path w="19050" h="1266825">
                  <a:moveTo>
                    <a:pt x="0" y="1257300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cubicBezTo>
                    <a:pt x="12192" y="0"/>
                    <a:pt x="14351" y="889"/>
                    <a:pt x="16256" y="2794"/>
                  </a:cubicBezTo>
                  <a:cubicBezTo>
                    <a:pt x="18161" y="4699"/>
                    <a:pt x="19050" y="6858"/>
                    <a:pt x="19050" y="9525"/>
                  </a:cubicBezTo>
                  <a:lnTo>
                    <a:pt x="19050" y="1257300"/>
                  </a:lnTo>
                  <a:cubicBezTo>
                    <a:pt x="19050" y="1259967"/>
                    <a:pt x="18161" y="1262126"/>
                    <a:pt x="16256" y="1264031"/>
                  </a:cubicBezTo>
                  <a:cubicBezTo>
                    <a:pt x="14351" y="1265936"/>
                    <a:pt x="12192" y="1266825"/>
                    <a:pt x="9525" y="1266825"/>
                  </a:cubicBezTo>
                  <a:cubicBezTo>
                    <a:pt x="6858" y="1266825"/>
                    <a:pt x="4699" y="1265936"/>
                    <a:pt x="2794" y="1264031"/>
                  </a:cubicBezTo>
                  <a:cubicBezTo>
                    <a:pt x="889" y="1262126"/>
                    <a:pt x="0" y="1259967"/>
                    <a:pt x="0" y="1257300"/>
                  </a:cubicBezTo>
                </a:path>
              </a:pathLst>
            </a:custGeom>
            <a:solidFill>
              <a:srgbClr val="ADB5BD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63500" y="1330325"/>
              <a:ext cx="5905500" cy="1266825"/>
            </a:xfrm>
            <a:custGeom>
              <a:avLst/>
              <a:gdLst/>
              <a:ahLst/>
              <a:cxnLst/>
              <a:rect l="l" t="t" r="r" b="b"/>
              <a:pathLst>
                <a:path w="5905500" h="1266825">
                  <a:moveTo>
                    <a:pt x="0" y="1246886"/>
                  </a:moveTo>
                  <a:lnTo>
                    <a:pt x="0" y="0"/>
                  </a:lnTo>
                  <a:lnTo>
                    <a:pt x="5905500" y="0"/>
                  </a:lnTo>
                  <a:lnTo>
                    <a:pt x="5905500" y="1246886"/>
                  </a:lnTo>
                  <a:cubicBezTo>
                    <a:pt x="5905500" y="1249553"/>
                    <a:pt x="5904992" y="1252093"/>
                    <a:pt x="5903976" y="1254506"/>
                  </a:cubicBezTo>
                  <a:cubicBezTo>
                    <a:pt x="5902960" y="1256919"/>
                    <a:pt x="5901563" y="1259078"/>
                    <a:pt x="5899658" y="1260983"/>
                  </a:cubicBezTo>
                  <a:cubicBezTo>
                    <a:pt x="5897753" y="1262888"/>
                    <a:pt x="5895594" y="1264285"/>
                    <a:pt x="5893181" y="1265301"/>
                  </a:cubicBezTo>
                  <a:cubicBezTo>
                    <a:pt x="5890768" y="1266317"/>
                    <a:pt x="5888228" y="1266825"/>
                    <a:pt x="5885561" y="1266825"/>
                  </a:cubicBezTo>
                  <a:lnTo>
                    <a:pt x="19939" y="1266825"/>
                  </a:lnTo>
                  <a:cubicBezTo>
                    <a:pt x="17272" y="1266825"/>
                    <a:pt x="14732" y="1266317"/>
                    <a:pt x="12319" y="1265301"/>
                  </a:cubicBezTo>
                  <a:cubicBezTo>
                    <a:pt x="9906" y="1264285"/>
                    <a:pt x="7747" y="1262888"/>
                    <a:pt x="5842" y="1260983"/>
                  </a:cubicBezTo>
                  <a:cubicBezTo>
                    <a:pt x="3937" y="1259078"/>
                    <a:pt x="2540" y="1256919"/>
                    <a:pt x="1524" y="1254506"/>
                  </a:cubicBezTo>
                  <a:cubicBezTo>
                    <a:pt x="508" y="1252093"/>
                    <a:pt x="0" y="1249553"/>
                    <a:pt x="0" y="1246886"/>
                  </a:cubicBezTo>
                </a:path>
              </a:pathLst>
            </a:custGeom>
            <a:solidFill>
              <a:srgbClr val="495057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63500" y="1330325"/>
              <a:ext cx="5905500" cy="19050"/>
            </a:xfrm>
            <a:custGeom>
              <a:avLst/>
              <a:gdLst/>
              <a:ahLst/>
              <a:cxnLst/>
              <a:rect l="l" t="t" r="r" b="b"/>
              <a:pathLst>
                <a:path w="5905500" h="190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895975" y="0"/>
                  </a:lnTo>
                  <a:cubicBezTo>
                    <a:pt x="5898642" y="0"/>
                    <a:pt x="5900801" y="889"/>
                    <a:pt x="5902706" y="2794"/>
                  </a:cubicBezTo>
                  <a:cubicBezTo>
                    <a:pt x="5904611" y="4699"/>
                    <a:pt x="5905500" y="6858"/>
                    <a:pt x="5905500" y="9525"/>
                  </a:cubicBezTo>
                  <a:cubicBezTo>
                    <a:pt x="5905500" y="12192"/>
                    <a:pt x="5904611" y="14351"/>
                    <a:pt x="5902706" y="16256"/>
                  </a:cubicBezTo>
                  <a:cubicBezTo>
                    <a:pt x="5900801" y="18161"/>
                    <a:pt x="5898642" y="19050"/>
                    <a:pt x="589597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</a:path>
              </a:pathLst>
            </a:custGeom>
            <a:solidFill>
              <a:srgbClr val="ADB5BD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2825750" y="511810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61061"/>
                  </a:moveTo>
                  <a:lnTo>
                    <a:pt x="0" y="10414"/>
                  </a:lnTo>
                  <a:cubicBezTo>
                    <a:pt x="0" y="7493"/>
                    <a:pt x="1016" y="5080"/>
                    <a:pt x="3048" y="3048"/>
                  </a:cubicBezTo>
                  <a:cubicBezTo>
                    <a:pt x="5080" y="1016"/>
                    <a:pt x="7493" y="0"/>
                    <a:pt x="10414" y="0"/>
                  </a:cubicBezTo>
                  <a:lnTo>
                    <a:pt x="370586" y="0"/>
                  </a:lnTo>
                  <a:cubicBezTo>
                    <a:pt x="373507" y="0"/>
                    <a:pt x="375920" y="1016"/>
                    <a:pt x="377952" y="3048"/>
                  </a:cubicBezTo>
                  <a:cubicBezTo>
                    <a:pt x="379984" y="5080"/>
                    <a:pt x="381000" y="7493"/>
                    <a:pt x="381000" y="10414"/>
                  </a:cubicBezTo>
                  <a:lnTo>
                    <a:pt x="381000" y="361061"/>
                  </a:lnTo>
                  <a:cubicBezTo>
                    <a:pt x="381000" y="363982"/>
                    <a:pt x="379984" y="366395"/>
                    <a:pt x="377952" y="368427"/>
                  </a:cubicBezTo>
                  <a:cubicBezTo>
                    <a:pt x="375920" y="370459"/>
                    <a:pt x="373507" y="371475"/>
                    <a:pt x="370586" y="371475"/>
                  </a:cubicBezTo>
                  <a:lnTo>
                    <a:pt x="10414" y="371475"/>
                  </a:lnTo>
                  <a:cubicBezTo>
                    <a:pt x="7493" y="371475"/>
                    <a:pt x="5080" y="370459"/>
                    <a:pt x="3048" y="368427"/>
                  </a:cubicBezTo>
                  <a:cubicBezTo>
                    <a:pt x="1016" y="366395"/>
                    <a:pt x="0" y="363982"/>
                    <a:pt x="0" y="361061"/>
                  </a:cubicBezTo>
                </a:path>
              </a:pathLst>
            </a:custGeom>
            <a:solidFill>
              <a:srgbClr val="343A4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816225" y="502285"/>
              <a:ext cx="400050" cy="390525"/>
            </a:xfrm>
            <a:custGeom>
              <a:avLst/>
              <a:gdLst/>
              <a:ahLst/>
              <a:cxnLst/>
              <a:rect l="l" t="t" r="r" b="b"/>
              <a:pathLst>
                <a:path w="400050" h="390525">
                  <a:moveTo>
                    <a:pt x="0" y="370586"/>
                  </a:moveTo>
                  <a:lnTo>
                    <a:pt x="0" y="19939"/>
                  </a:lnTo>
                  <a:lnTo>
                    <a:pt x="9525" y="19939"/>
                  </a:lnTo>
                  <a:lnTo>
                    <a:pt x="0" y="19939"/>
                  </a:lnTo>
                  <a:cubicBezTo>
                    <a:pt x="0" y="14478"/>
                    <a:pt x="2032" y="9652"/>
                    <a:pt x="5842" y="5842"/>
                  </a:cubicBezTo>
                  <a:lnTo>
                    <a:pt x="5842" y="5842"/>
                  </a:lnTo>
                  <a:lnTo>
                    <a:pt x="5842" y="5842"/>
                  </a:lnTo>
                  <a:cubicBezTo>
                    <a:pt x="9652" y="2032"/>
                    <a:pt x="14478" y="0"/>
                    <a:pt x="19939" y="0"/>
                  </a:cubicBezTo>
                  <a:lnTo>
                    <a:pt x="19939" y="9525"/>
                  </a:lnTo>
                  <a:lnTo>
                    <a:pt x="19939" y="0"/>
                  </a:lnTo>
                  <a:lnTo>
                    <a:pt x="380111" y="0"/>
                  </a:lnTo>
                  <a:lnTo>
                    <a:pt x="380111" y="9525"/>
                  </a:lnTo>
                  <a:lnTo>
                    <a:pt x="380111" y="0"/>
                  </a:lnTo>
                  <a:cubicBezTo>
                    <a:pt x="385572" y="0"/>
                    <a:pt x="390398" y="2032"/>
                    <a:pt x="394208" y="5842"/>
                  </a:cubicBezTo>
                  <a:lnTo>
                    <a:pt x="387477" y="12573"/>
                  </a:lnTo>
                  <a:lnTo>
                    <a:pt x="394208" y="5842"/>
                  </a:lnTo>
                  <a:cubicBezTo>
                    <a:pt x="398018" y="9652"/>
                    <a:pt x="400050" y="14478"/>
                    <a:pt x="400050" y="19939"/>
                  </a:cubicBezTo>
                  <a:lnTo>
                    <a:pt x="390525" y="19939"/>
                  </a:lnTo>
                  <a:lnTo>
                    <a:pt x="400050" y="19939"/>
                  </a:lnTo>
                  <a:lnTo>
                    <a:pt x="400050" y="370586"/>
                  </a:lnTo>
                  <a:lnTo>
                    <a:pt x="390525" y="370586"/>
                  </a:lnTo>
                  <a:lnTo>
                    <a:pt x="400050" y="370586"/>
                  </a:lnTo>
                  <a:cubicBezTo>
                    <a:pt x="400050" y="375920"/>
                    <a:pt x="398018" y="380873"/>
                    <a:pt x="394208" y="384683"/>
                  </a:cubicBezTo>
                  <a:lnTo>
                    <a:pt x="387477" y="377952"/>
                  </a:lnTo>
                  <a:lnTo>
                    <a:pt x="394208" y="384683"/>
                  </a:lnTo>
                  <a:cubicBezTo>
                    <a:pt x="390398" y="388493"/>
                    <a:pt x="385445" y="390525"/>
                    <a:pt x="380111" y="390525"/>
                  </a:cubicBezTo>
                  <a:lnTo>
                    <a:pt x="380111" y="381000"/>
                  </a:lnTo>
                  <a:lnTo>
                    <a:pt x="380111" y="390525"/>
                  </a:lnTo>
                  <a:lnTo>
                    <a:pt x="19939" y="390525"/>
                  </a:lnTo>
                  <a:lnTo>
                    <a:pt x="19939" y="381000"/>
                  </a:lnTo>
                  <a:lnTo>
                    <a:pt x="19939" y="390525"/>
                  </a:lnTo>
                  <a:cubicBezTo>
                    <a:pt x="14478" y="390525"/>
                    <a:pt x="9652" y="388493"/>
                    <a:pt x="5842" y="384683"/>
                  </a:cubicBezTo>
                  <a:lnTo>
                    <a:pt x="12573" y="377952"/>
                  </a:lnTo>
                  <a:lnTo>
                    <a:pt x="5842" y="384683"/>
                  </a:lnTo>
                  <a:cubicBezTo>
                    <a:pt x="2032" y="380873"/>
                    <a:pt x="0" y="375920"/>
                    <a:pt x="0" y="370586"/>
                  </a:cubicBezTo>
                  <a:lnTo>
                    <a:pt x="9525" y="370586"/>
                  </a:lnTo>
                  <a:lnTo>
                    <a:pt x="0" y="370586"/>
                  </a:lnTo>
                  <a:moveTo>
                    <a:pt x="19050" y="370586"/>
                  </a:moveTo>
                  <a:cubicBezTo>
                    <a:pt x="19050" y="370967"/>
                    <a:pt x="19050" y="370967"/>
                    <a:pt x="19304" y="371221"/>
                  </a:cubicBezTo>
                  <a:lnTo>
                    <a:pt x="19304" y="371221"/>
                  </a:lnTo>
                  <a:lnTo>
                    <a:pt x="19304" y="371221"/>
                  </a:lnTo>
                  <a:cubicBezTo>
                    <a:pt x="19558" y="371475"/>
                    <a:pt x="19558" y="371475"/>
                    <a:pt x="19939" y="371475"/>
                  </a:cubicBezTo>
                  <a:lnTo>
                    <a:pt x="380111" y="371475"/>
                  </a:lnTo>
                  <a:cubicBezTo>
                    <a:pt x="380492" y="371475"/>
                    <a:pt x="380492" y="371475"/>
                    <a:pt x="380746" y="371221"/>
                  </a:cubicBezTo>
                  <a:lnTo>
                    <a:pt x="380746" y="371221"/>
                  </a:lnTo>
                  <a:lnTo>
                    <a:pt x="380746" y="371221"/>
                  </a:lnTo>
                  <a:cubicBezTo>
                    <a:pt x="381000" y="370967"/>
                    <a:pt x="381000" y="370967"/>
                    <a:pt x="381000" y="370586"/>
                  </a:cubicBezTo>
                  <a:lnTo>
                    <a:pt x="381000" y="19939"/>
                  </a:lnTo>
                  <a:cubicBezTo>
                    <a:pt x="381000" y="19558"/>
                    <a:pt x="381000" y="19558"/>
                    <a:pt x="380746" y="19304"/>
                  </a:cubicBezTo>
                  <a:lnTo>
                    <a:pt x="380746" y="19304"/>
                  </a:lnTo>
                  <a:lnTo>
                    <a:pt x="380746" y="19304"/>
                  </a:lnTo>
                  <a:cubicBezTo>
                    <a:pt x="380492" y="19050"/>
                    <a:pt x="380492" y="19050"/>
                    <a:pt x="380111" y="19050"/>
                  </a:cubicBezTo>
                  <a:lnTo>
                    <a:pt x="19939" y="19050"/>
                  </a:lnTo>
                  <a:cubicBezTo>
                    <a:pt x="19558" y="19050"/>
                    <a:pt x="19558" y="19050"/>
                    <a:pt x="19304" y="19304"/>
                  </a:cubicBezTo>
                  <a:lnTo>
                    <a:pt x="12573" y="12573"/>
                  </a:lnTo>
                  <a:lnTo>
                    <a:pt x="19304" y="19304"/>
                  </a:lnTo>
                  <a:cubicBezTo>
                    <a:pt x="19050" y="19558"/>
                    <a:pt x="19050" y="19558"/>
                    <a:pt x="19050" y="19939"/>
                  </a:cubicBezTo>
                  <a:lnTo>
                    <a:pt x="19050" y="370586"/>
                  </a:ln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3030803" y="771303"/>
              <a:ext cx="43073" cy="20846"/>
            </a:xfrm>
            <a:custGeom>
              <a:avLst/>
              <a:gdLst/>
              <a:ahLst/>
              <a:cxnLst/>
              <a:rect l="l" t="t" r="r" b="b"/>
              <a:pathLst>
                <a:path w="43073" h="20846">
                  <a:moveTo>
                    <a:pt x="6783" y="7969"/>
                  </a:moveTo>
                  <a:cubicBezTo>
                    <a:pt x="11863" y="10890"/>
                    <a:pt x="14657" y="12033"/>
                    <a:pt x="16181" y="12287"/>
                  </a:cubicBezTo>
                  <a:lnTo>
                    <a:pt x="15292" y="16605"/>
                  </a:lnTo>
                  <a:lnTo>
                    <a:pt x="15673" y="12160"/>
                  </a:lnTo>
                  <a:cubicBezTo>
                    <a:pt x="17578" y="12287"/>
                    <a:pt x="19356" y="12287"/>
                    <a:pt x="21261" y="12033"/>
                  </a:cubicBezTo>
                  <a:lnTo>
                    <a:pt x="21896" y="16351"/>
                  </a:lnTo>
                  <a:lnTo>
                    <a:pt x="20753" y="12033"/>
                  </a:lnTo>
                  <a:cubicBezTo>
                    <a:pt x="22531" y="11525"/>
                    <a:pt x="24436" y="10890"/>
                    <a:pt x="27611" y="8985"/>
                  </a:cubicBezTo>
                  <a:lnTo>
                    <a:pt x="29897" y="12795"/>
                  </a:lnTo>
                  <a:lnTo>
                    <a:pt x="27103" y="9366"/>
                  </a:lnTo>
                  <a:cubicBezTo>
                    <a:pt x="28373" y="8223"/>
                    <a:pt x="31167" y="5683"/>
                    <a:pt x="35612" y="1238"/>
                  </a:cubicBezTo>
                  <a:cubicBezTo>
                    <a:pt x="37390" y="-413"/>
                    <a:pt x="40184" y="-413"/>
                    <a:pt x="41835" y="1238"/>
                  </a:cubicBezTo>
                  <a:cubicBezTo>
                    <a:pt x="43486" y="2889"/>
                    <a:pt x="43486" y="5810"/>
                    <a:pt x="41835" y="7461"/>
                  </a:cubicBezTo>
                  <a:cubicBezTo>
                    <a:pt x="37390" y="11779"/>
                    <a:pt x="34342" y="14700"/>
                    <a:pt x="32691" y="16097"/>
                  </a:cubicBezTo>
                  <a:cubicBezTo>
                    <a:pt x="32564" y="16224"/>
                    <a:pt x="32310" y="16351"/>
                    <a:pt x="32056" y="16478"/>
                  </a:cubicBezTo>
                  <a:cubicBezTo>
                    <a:pt x="28246" y="18637"/>
                    <a:pt x="25579" y="19780"/>
                    <a:pt x="22912" y="20415"/>
                  </a:cubicBezTo>
                  <a:cubicBezTo>
                    <a:pt x="22785" y="20415"/>
                    <a:pt x="22531" y="20542"/>
                    <a:pt x="22404" y="20542"/>
                  </a:cubicBezTo>
                  <a:cubicBezTo>
                    <a:pt x="19864" y="20923"/>
                    <a:pt x="17324" y="20923"/>
                    <a:pt x="14784" y="20669"/>
                  </a:cubicBezTo>
                  <a:cubicBezTo>
                    <a:pt x="14657" y="20669"/>
                    <a:pt x="14403" y="20669"/>
                    <a:pt x="14276" y="20542"/>
                  </a:cubicBezTo>
                  <a:cubicBezTo>
                    <a:pt x="11355" y="19907"/>
                    <a:pt x="7545" y="18256"/>
                    <a:pt x="2211" y="15208"/>
                  </a:cubicBezTo>
                  <a:cubicBezTo>
                    <a:pt x="52" y="13938"/>
                    <a:pt x="-583" y="11271"/>
                    <a:pt x="560" y="9239"/>
                  </a:cubicBezTo>
                  <a:cubicBezTo>
                    <a:pt x="1703" y="7207"/>
                    <a:pt x="4497" y="6445"/>
                    <a:pt x="6529" y="7588"/>
                  </a:cubicBez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3093068" y="668941"/>
              <a:ext cx="31639" cy="72487"/>
            </a:xfrm>
            <a:custGeom>
              <a:avLst/>
              <a:gdLst/>
              <a:ahLst/>
              <a:cxnLst/>
              <a:rect l="l" t="t" r="r" b="b"/>
              <a:pathLst>
                <a:path w="31639" h="72487">
                  <a:moveTo>
                    <a:pt x="12209" y="65119"/>
                  </a:moveTo>
                  <a:cubicBezTo>
                    <a:pt x="15257" y="61944"/>
                    <a:pt x="17670" y="58769"/>
                    <a:pt x="19575" y="55721"/>
                  </a:cubicBezTo>
                  <a:lnTo>
                    <a:pt x="23385" y="58007"/>
                  </a:lnTo>
                  <a:lnTo>
                    <a:pt x="19321" y="56229"/>
                  </a:lnTo>
                  <a:cubicBezTo>
                    <a:pt x="21099" y="52038"/>
                    <a:pt x="22369" y="47974"/>
                    <a:pt x="22877" y="43910"/>
                  </a:cubicBezTo>
                  <a:lnTo>
                    <a:pt x="27195" y="44545"/>
                  </a:lnTo>
                  <a:lnTo>
                    <a:pt x="22750" y="44545"/>
                  </a:lnTo>
                  <a:cubicBezTo>
                    <a:pt x="22750" y="39211"/>
                    <a:pt x="22369" y="35147"/>
                    <a:pt x="21607" y="32226"/>
                  </a:cubicBezTo>
                  <a:lnTo>
                    <a:pt x="25925" y="31210"/>
                  </a:lnTo>
                  <a:lnTo>
                    <a:pt x="21861" y="32734"/>
                  </a:lnTo>
                  <a:cubicBezTo>
                    <a:pt x="20718" y="29686"/>
                    <a:pt x="19067" y="26638"/>
                    <a:pt x="17035" y="23590"/>
                  </a:cubicBezTo>
                  <a:lnTo>
                    <a:pt x="20718" y="21050"/>
                  </a:lnTo>
                  <a:lnTo>
                    <a:pt x="17416" y="23971"/>
                  </a:lnTo>
                  <a:cubicBezTo>
                    <a:pt x="15511" y="21812"/>
                    <a:pt x="10304" y="16351"/>
                    <a:pt x="1287" y="7461"/>
                  </a:cubicBezTo>
                  <a:cubicBezTo>
                    <a:pt x="-491" y="5683"/>
                    <a:pt x="-365" y="2889"/>
                    <a:pt x="1287" y="1238"/>
                  </a:cubicBezTo>
                  <a:cubicBezTo>
                    <a:pt x="2938" y="-413"/>
                    <a:pt x="5859" y="-413"/>
                    <a:pt x="7510" y="1238"/>
                  </a:cubicBezTo>
                  <a:cubicBezTo>
                    <a:pt x="16400" y="10128"/>
                    <a:pt x="21861" y="15843"/>
                    <a:pt x="23893" y="18129"/>
                  </a:cubicBezTo>
                  <a:cubicBezTo>
                    <a:pt x="24019" y="18256"/>
                    <a:pt x="24147" y="18383"/>
                    <a:pt x="24274" y="18510"/>
                  </a:cubicBezTo>
                  <a:cubicBezTo>
                    <a:pt x="26687" y="22193"/>
                    <a:pt x="28719" y="25876"/>
                    <a:pt x="30116" y="29432"/>
                  </a:cubicBezTo>
                  <a:cubicBezTo>
                    <a:pt x="30116" y="29559"/>
                    <a:pt x="30243" y="29813"/>
                    <a:pt x="30243" y="29940"/>
                  </a:cubicBezTo>
                  <a:cubicBezTo>
                    <a:pt x="31259" y="33750"/>
                    <a:pt x="31640" y="38576"/>
                    <a:pt x="31640" y="44418"/>
                  </a:cubicBezTo>
                  <a:cubicBezTo>
                    <a:pt x="31640" y="44545"/>
                    <a:pt x="31640" y="44799"/>
                    <a:pt x="31640" y="44926"/>
                  </a:cubicBezTo>
                  <a:cubicBezTo>
                    <a:pt x="31004" y="49879"/>
                    <a:pt x="29607" y="54705"/>
                    <a:pt x="27449" y="59658"/>
                  </a:cubicBezTo>
                  <a:cubicBezTo>
                    <a:pt x="27322" y="59785"/>
                    <a:pt x="27322" y="60039"/>
                    <a:pt x="27194" y="60166"/>
                  </a:cubicBezTo>
                  <a:cubicBezTo>
                    <a:pt x="24909" y="63849"/>
                    <a:pt x="22115" y="67532"/>
                    <a:pt x="18685" y="71088"/>
                  </a:cubicBezTo>
                  <a:cubicBezTo>
                    <a:pt x="17034" y="72866"/>
                    <a:pt x="14240" y="72993"/>
                    <a:pt x="12462" y="71215"/>
                  </a:cubicBezTo>
                  <a:cubicBezTo>
                    <a:pt x="10684" y="69437"/>
                    <a:pt x="10557" y="66770"/>
                    <a:pt x="12335" y="64992"/>
                  </a:cubicBez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998978" y="601980"/>
              <a:ext cx="44032" cy="16473"/>
            </a:xfrm>
            <a:custGeom>
              <a:avLst/>
              <a:gdLst/>
              <a:ahLst/>
              <a:cxnLst/>
              <a:rect l="l" t="t" r="r" b="b"/>
              <a:pathLst>
                <a:path w="44032" h="16473">
                  <a:moveTo>
                    <a:pt x="36703" y="15494"/>
                  </a:moveTo>
                  <a:cubicBezTo>
                    <a:pt x="33655" y="12700"/>
                    <a:pt x="31750" y="11430"/>
                    <a:pt x="28702" y="9906"/>
                  </a:cubicBezTo>
                  <a:lnTo>
                    <a:pt x="30734" y="5969"/>
                  </a:lnTo>
                  <a:lnTo>
                    <a:pt x="29464" y="10160"/>
                  </a:lnTo>
                  <a:cubicBezTo>
                    <a:pt x="26543" y="9271"/>
                    <a:pt x="24638" y="9017"/>
                    <a:pt x="22860" y="8890"/>
                  </a:cubicBezTo>
                  <a:lnTo>
                    <a:pt x="22987" y="4445"/>
                  </a:lnTo>
                  <a:lnTo>
                    <a:pt x="22987" y="8890"/>
                  </a:lnTo>
                  <a:lnTo>
                    <a:pt x="4445" y="8890"/>
                  </a:lnTo>
                  <a:cubicBezTo>
                    <a:pt x="2032" y="8890"/>
                    <a:pt x="0" y="6858"/>
                    <a:pt x="0" y="4445"/>
                  </a:cubicBezTo>
                  <a:cubicBezTo>
                    <a:pt x="0" y="2032"/>
                    <a:pt x="2032" y="0"/>
                    <a:pt x="4445" y="0"/>
                  </a:cubicBezTo>
                  <a:lnTo>
                    <a:pt x="22987" y="0"/>
                  </a:lnTo>
                  <a:cubicBezTo>
                    <a:pt x="22987" y="0"/>
                    <a:pt x="23114" y="0"/>
                    <a:pt x="23114" y="0"/>
                  </a:cubicBezTo>
                  <a:cubicBezTo>
                    <a:pt x="25781" y="127"/>
                    <a:pt x="28321" y="508"/>
                    <a:pt x="32004" y="1651"/>
                  </a:cubicBezTo>
                  <a:cubicBezTo>
                    <a:pt x="32258" y="1778"/>
                    <a:pt x="32512" y="1778"/>
                    <a:pt x="32639" y="1905"/>
                  </a:cubicBezTo>
                  <a:cubicBezTo>
                    <a:pt x="36449" y="3810"/>
                    <a:pt x="38989" y="5588"/>
                    <a:pt x="42545" y="8763"/>
                  </a:cubicBezTo>
                  <a:cubicBezTo>
                    <a:pt x="44323" y="10414"/>
                    <a:pt x="44577" y="13208"/>
                    <a:pt x="42926" y="14986"/>
                  </a:cubicBezTo>
                  <a:cubicBezTo>
                    <a:pt x="41275" y="16764"/>
                    <a:pt x="38481" y="17018"/>
                    <a:pt x="36703" y="15367"/>
                  </a:cubicBez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3077750" y="681006"/>
              <a:ext cx="24131" cy="52626"/>
            </a:xfrm>
            <a:custGeom>
              <a:avLst/>
              <a:gdLst/>
              <a:ahLst/>
              <a:cxnLst/>
              <a:rect l="l" t="t" r="r" b="b"/>
              <a:pathLst>
                <a:path w="24131" h="52626">
                  <a:moveTo>
                    <a:pt x="8223" y="45180"/>
                  </a:moveTo>
                  <a:cubicBezTo>
                    <a:pt x="10128" y="43148"/>
                    <a:pt x="11779" y="40989"/>
                    <a:pt x="13430" y="38449"/>
                  </a:cubicBezTo>
                  <a:lnTo>
                    <a:pt x="17113" y="40862"/>
                  </a:lnTo>
                  <a:lnTo>
                    <a:pt x="13176" y="38957"/>
                  </a:lnTo>
                  <a:cubicBezTo>
                    <a:pt x="14319" y="36544"/>
                    <a:pt x="15081" y="33877"/>
                    <a:pt x="15589" y="31464"/>
                  </a:cubicBezTo>
                  <a:lnTo>
                    <a:pt x="19907" y="32226"/>
                  </a:lnTo>
                  <a:lnTo>
                    <a:pt x="15462" y="31972"/>
                  </a:lnTo>
                  <a:cubicBezTo>
                    <a:pt x="15589" y="28924"/>
                    <a:pt x="15335" y="26638"/>
                    <a:pt x="14954" y="24733"/>
                  </a:cubicBezTo>
                  <a:lnTo>
                    <a:pt x="19272" y="23844"/>
                  </a:lnTo>
                  <a:lnTo>
                    <a:pt x="15081" y="25241"/>
                  </a:lnTo>
                  <a:cubicBezTo>
                    <a:pt x="14192" y="22574"/>
                    <a:pt x="13303" y="20669"/>
                    <a:pt x="12160" y="19018"/>
                  </a:cubicBezTo>
                  <a:lnTo>
                    <a:pt x="15970" y="16732"/>
                  </a:lnTo>
                  <a:lnTo>
                    <a:pt x="12541" y="19526"/>
                  </a:lnTo>
                  <a:cubicBezTo>
                    <a:pt x="10763" y="17367"/>
                    <a:pt x="7080" y="13303"/>
                    <a:pt x="1238" y="7461"/>
                  </a:cubicBezTo>
                  <a:cubicBezTo>
                    <a:pt x="-413" y="5683"/>
                    <a:pt x="-413" y="2889"/>
                    <a:pt x="1238" y="1238"/>
                  </a:cubicBezTo>
                  <a:cubicBezTo>
                    <a:pt x="2889" y="-413"/>
                    <a:pt x="5810" y="-413"/>
                    <a:pt x="7461" y="1238"/>
                  </a:cubicBezTo>
                  <a:cubicBezTo>
                    <a:pt x="13303" y="7080"/>
                    <a:pt x="17367" y="11398"/>
                    <a:pt x="19399" y="14065"/>
                  </a:cubicBezTo>
                  <a:cubicBezTo>
                    <a:pt x="19526" y="14192"/>
                    <a:pt x="19653" y="14319"/>
                    <a:pt x="19653" y="14446"/>
                  </a:cubicBezTo>
                  <a:cubicBezTo>
                    <a:pt x="21050" y="16732"/>
                    <a:pt x="22320" y="19272"/>
                    <a:pt x="23336" y="22574"/>
                  </a:cubicBezTo>
                  <a:cubicBezTo>
                    <a:pt x="23336" y="22701"/>
                    <a:pt x="23463" y="22955"/>
                    <a:pt x="23463" y="23082"/>
                  </a:cubicBezTo>
                  <a:cubicBezTo>
                    <a:pt x="23971" y="25749"/>
                    <a:pt x="24225" y="28924"/>
                    <a:pt x="24098" y="32480"/>
                  </a:cubicBezTo>
                  <a:cubicBezTo>
                    <a:pt x="24098" y="32734"/>
                    <a:pt x="24098" y="32861"/>
                    <a:pt x="23971" y="33115"/>
                  </a:cubicBezTo>
                  <a:cubicBezTo>
                    <a:pt x="23463" y="36163"/>
                    <a:pt x="22320" y="39592"/>
                    <a:pt x="20923" y="42767"/>
                  </a:cubicBezTo>
                  <a:cubicBezTo>
                    <a:pt x="20796" y="42894"/>
                    <a:pt x="20796" y="43148"/>
                    <a:pt x="20669" y="43275"/>
                  </a:cubicBezTo>
                  <a:cubicBezTo>
                    <a:pt x="18764" y="46323"/>
                    <a:pt x="16732" y="48863"/>
                    <a:pt x="14446" y="51276"/>
                  </a:cubicBezTo>
                  <a:cubicBezTo>
                    <a:pt x="12795" y="53054"/>
                    <a:pt x="10001" y="53054"/>
                    <a:pt x="8223" y="51403"/>
                  </a:cubicBezTo>
                  <a:cubicBezTo>
                    <a:pt x="6445" y="49752"/>
                    <a:pt x="6445" y="46958"/>
                    <a:pt x="8096" y="45180"/>
                  </a:cubicBez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3030966" y="724725"/>
              <a:ext cx="62644" cy="62738"/>
            </a:xfrm>
            <a:custGeom>
              <a:avLst/>
              <a:gdLst/>
              <a:ahLst/>
              <a:cxnLst/>
              <a:rect l="l" t="t" r="r" b="b"/>
              <a:pathLst>
                <a:path w="62644" h="62738">
                  <a:moveTo>
                    <a:pt x="1286" y="55182"/>
                  </a:moveTo>
                  <a:lnTo>
                    <a:pt x="55134" y="1334"/>
                  </a:lnTo>
                  <a:cubicBezTo>
                    <a:pt x="56912" y="-444"/>
                    <a:pt x="59706" y="-444"/>
                    <a:pt x="61357" y="1334"/>
                  </a:cubicBezTo>
                  <a:cubicBezTo>
                    <a:pt x="63008" y="3112"/>
                    <a:pt x="63135" y="5906"/>
                    <a:pt x="61357" y="7557"/>
                  </a:cubicBezTo>
                  <a:lnTo>
                    <a:pt x="7509" y="61405"/>
                  </a:lnTo>
                  <a:cubicBezTo>
                    <a:pt x="5731" y="63183"/>
                    <a:pt x="2937" y="63183"/>
                    <a:pt x="1286" y="61405"/>
                  </a:cubicBezTo>
                  <a:cubicBezTo>
                    <a:pt x="-365" y="59627"/>
                    <a:pt x="-492" y="56833"/>
                    <a:pt x="1286" y="55182"/>
                  </a:cubicBez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2995078" y="767498"/>
              <a:ext cx="44688" cy="23274"/>
            </a:xfrm>
            <a:custGeom>
              <a:avLst/>
              <a:gdLst/>
              <a:ahLst/>
              <a:cxnLst/>
              <a:rect l="l" t="t" r="r" b="b"/>
              <a:pathLst>
                <a:path w="44688" h="23274">
                  <a:moveTo>
                    <a:pt x="42381" y="19521"/>
                  </a:moveTo>
                  <a:cubicBezTo>
                    <a:pt x="26633" y="27903"/>
                    <a:pt x="13679" y="21553"/>
                    <a:pt x="1106" y="7329"/>
                  </a:cubicBezTo>
                  <a:cubicBezTo>
                    <a:pt x="-545" y="5551"/>
                    <a:pt x="-291" y="2757"/>
                    <a:pt x="1487" y="1106"/>
                  </a:cubicBezTo>
                  <a:cubicBezTo>
                    <a:pt x="3265" y="-545"/>
                    <a:pt x="6059" y="-291"/>
                    <a:pt x="7710" y="1487"/>
                  </a:cubicBezTo>
                  <a:cubicBezTo>
                    <a:pt x="19267" y="14441"/>
                    <a:pt x="27776" y="17235"/>
                    <a:pt x="38190" y="11774"/>
                  </a:cubicBezTo>
                  <a:cubicBezTo>
                    <a:pt x="40349" y="10631"/>
                    <a:pt x="43016" y="11393"/>
                    <a:pt x="44159" y="13552"/>
                  </a:cubicBezTo>
                  <a:cubicBezTo>
                    <a:pt x="45302" y="15711"/>
                    <a:pt x="44540" y="18378"/>
                    <a:pt x="42381" y="19521"/>
                  </a:cubicBez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948559" y="626999"/>
              <a:ext cx="36068" cy="36195"/>
            </a:xfrm>
            <a:custGeom>
              <a:avLst/>
              <a:gdLst/>
              <a:ahLst/>
              <a:cxnLst/>
              <a:rect l="l" t="t" r="r" b="b"/>
              <a:pathLst>
                <a:path w="36068" h="36195">
                  <a:moveTo>
                    <a:pt x="36068" y="18161"/>
                  </a:moveTo>
                  <a:cubicBezTo>
                    <a:pt x="36068" y="20574"/>
                    <a:pt x="35560" y="22860"/>
                    <a:pt x="34671" y="25019"/>
                  </a:cubicBezTo>
                  <a:lnTo>
                    <a:pt x="30607" y="23368"/>
                  </a:lnTo>
                  <a:lnTo>
                    <a:pt x="34671" y="25019"/>
                  </a:lnTo>
                  <a:cubicBezTo>
                    <a:pt x="33782" y="27305"/>
                    <a:pt x="32385" y="29210"/>
                    <a:pt x="30734" y="30861"/>
                  </a:cubicBezTo>
                  <a:cubicBezTo>
                    <a:pt x="30734" y="30861"/>
                    <a:pt x="30734" y="30861"/>
                    <a:pt x="30734" y="30861"/>
                  </a:cubicBezTo>
                  <a:cubicBezTo>
                    <a:pt x="29083" y="32512"/>
                    <a:pt x="27051" y="33909"/>
                    <a:pt x="24892" y="34798"/>
                  </a:cubicBezTo>
                  <a:cubicBezTo>
                    <a:pt x="24892" y="34798"/>
                    <a:pt x="24892" y="34798"/>
                    <a:pt x="24892" y="34798"/>
                  </a:cubicBezTo>
                  <a:cubicBezTo>
                    <a:pt x="22733" y="35687"/>
                    <a:pt x="20447" y="36195"/>
                    <a:pt x="18034" y="36195"/>
                  </a:cubicBezTo>
                  <a:lnTo>
                    <a:pt x="18034" y="31750"/>
                  </a:lnTo>
                  <a:lnTo>
                    <a:pt x="18034" y="36195"/>
                  </a:lnTo>
                  <a:cubicBezTo>
                    <a:pt x="15621" y="36195"/>
                    <a:pt x="13335" y="35687"/>
                    <a:pt x="11176" y="34798"/>
                  </a:cubicBezTo>
                  <a:cubicBezTo>
                    <a:pt x="11176" y="34798"/>
                    <a:pt x="11176" y="34798"/>
                    <a:pt x="11176" y="34798"/>
                  </a:cubicBezTo>
                  <a:cubicBezTo>
                    <a:pt x="9017" y="33909"/>
                    <a:pt x="6985" y="32639"/>
                    <a:pt x="5334" y="30861"/>
                  </a:cubicBezTo>
                  <a:cubicBezTo>
                    <a:pt x="5334" y="30861"/>
                    <a:pt x="5334" y="30861"/>
                    <a:pt x="5334" y="30861"/>
                  </a:cubicBezTo>
                  <a:cubicBezTo>
                    <a:pt x="3683" y="29210"/>
                    <a:pt x="2286" y="27178"/>
                    <a:pt x="1397" y="25019"/>
                  </a:cubicBezTo>
                  <a:lnTo>
                    <a:pt x="5461" y="23368"/>
                  </a:lnTo>
                  <a:lnTo>
                    <a:pt x="1397" y="25019"/>
                  </a:lnTo>
                  <a:cubicBezTo>
                    <a:pt x="508" y="22860"/>
                    <a:pt x="0" y="20447"/>
                    <a:pt x="0" y="18161"/>
                  </a:cubicBezTo>
                  <a:lnTo>
                    <a:pt x="4445" y="18161"/>
                  </a:lnTo>
                  <a:lnTo>
                    <a:pt x="0" y="18161"/>
                  </a:lnTo>
                  <a:cubicBezTo>
                    <a:pt x="0" y="15748"/>
                    <a:pt x="508" y="13462"/>
                    <a:pt x="1397" y="11176"/>
                  </a:cubicBezTo>
                  <a:lnTo>
                    <a:pt x="5461" y="12827"/>
                  </a:lnTo>
                  <a:lnTo>
                    <a:pt x="1397" y="11176"/>
                  </a:lnTo>
                  <a:cubicBezTo>
                    <a:pt x="2286" y="8890"/>
                    <a:pt x="3683" y="6985"/>
                    <a:pt x="5334" y="5334"/>
                  </a:cubicBezTo>
                  <a:cubicBezTo>
                    <a:pt x="5334" y="5334"/>
                    <a:pt x="5334" y="5334"/>
                    <a:pt x="5334" y="5334"/>
                  </a:cubicBezTo>
                  <a:cubicBezTo>
                    <a:pt x="6985" y="3683"/>
                    <a:pt x="9017" y="2286"/>
                    <a:pt x="11176" y="1397"/>
                  </a:cubicBezTo>
                  <a:cubicBezTo>
                    <a:pt x="11176" y="1397"/>
                    <a:pt x="11176" y="1397"/>
                    <a:pt x="11176" y="1397"/>
                  </a:cubicBezTo>
                  <a:cubicBezTo>
                    <a:pt x="13335" y="508"/>
                    <a:pt x="15621" y="0"/>
                    <a:pt x="18034" y="0"/>
                  </a:cubicBezTo>
                  <a:lnTo>
                    <a:pt x="18034" y="4445"/>
                  </a:lnTo>
                  <a:lnTo>
                    <a:pt x="18034" y="0"/>
                  </a:lnTo>
                  <a:cubicBezTo>
                    <a:pt x="20447" y="0"/>
                    <a:pt x="22733" y="508"/>
                    <a:pt x="24892" y="1397"/>
                  </a:cubicBezTo>
                  <a:cubicBezTo>
                    <a:pt x="24892" y="1397"/>
                    <a:pt x="24892" y="1397"/>
                    <a:pt x="24892" y="1397"/>
                  </a:cubicBezTo>
                  <a:cubicBezTo>
                    <a:pt x="27051" y="2286"/>
                    <a:pt x="29083" y="3556"/>
                    <a:pt x="30734" y="5334"/>
                  </a:cubicBezTo>
                  <a:cubicBezTo>
                    <a:pt x="30734" y="5334"/>
                    <a:pt x="30734" y="5334"/>
                    <a:pt x="30734" y="5334"/>
                  </a:cubicBezTo>
                  <a:cubicBezTo>
                    <a:pt x="32385" y="6985"/>
                    <a:pt x="33782" y="9017"/>
                    <a:pt x="34671" y="11176"/>
                  </a:cubicBezTo>
                  <a:lnTo>
                    <a:pt x="30607" y="12827"/>
                  </a:lnTo>
                  <a:lnTo>
                    <a:pt x="34671" y="11176"/>
                  </a:lnTo>
                  <a:cubicBezTo>
                    <a:pt x="35560" y="13335"/>
                    <a:pt x="36068" y="15748"/>
                    <a:pt x="36068" y="18161"/>
                  </a:cubicBezTo>
                  <a:lnTo>
                    <a:pt x="31623" y="18161"/>
                  </a:lnTo>
                  <a:lnTo>
                    <a:pt x="36068" y="18161"/>
                  </a:lnTo>
                  <a:moveTo>
                    <a:pt x="27178" y="18161"/>
                  </a:moveTo>
                  <a:cubicBezTo>
                    <a:pt x="27178" y="16891"/>
                    <a:pt x="26924" y="15748"/>
                    <a:pt x="26543" y="14605"/>
                  </a:cubicBezTo>
                  <a:cubicBezTo>
                    <a:pt x="26543" y="14605"/>
                    <a:pt x="26543" y="14605"/>
                    <a:pt x="26543" y="14605"/>
                  </a:cubicBezTo>
                  <a:cubicBezTo>
                    <a:pt x="26035" y="13462"/>
                    <a:pt x="25400" y="12446"/>
                    <a:pt x="24511" y="11684"/>
                  </a:cubicBezTo>
                  <a:lnTo>
                    <a:pt x="27686" y="8509"/>
                  </a:lnTo>
                  <a:lnTo>
                    <a:pt x="24511" y="11684"/>
                  </a:lnTo>
                  <a:cubicBezTo>
                    <a:pt x="23622" y="10795"/>
                    <a:pt x="22606" y="10160"/>
                    <a:pt x="21463" y="9652"/>
                  </a:cubicBezTo>
                  <a:lnTo>
                    <a:pt x="23114" y="5588"/>
                  </a:lnTo>
                  <a:lnTo>
                    <a:pt x="21463" y="9652"/>
                  </a:lnTo>
                  <a:cubicBezTo>
                    <a:pt x="20320" y="9144"/>
                    <a:pt x="19177" y="8890"/>
                    <a:pt x="17907" y="8890"/>
                  </a:cubicBezTo>
                  <a:cubicBezTo>
                    <a:pt x="16637" y="8890"/>
                    <a:pt x="15494" y="9144"/>
                    <a:pt x="14351" y="9652"/>
                  </a:cubicBezTo>
                  <a:lnTo>
                    <a:pt x="12700" y="5588"/>
                  </a:lnTo>
                  <a:lnTo>
                    <a:pt x="14351" y="9652"/>
                  </a:lnTo>
                  <a:cubicBezTo>
                    <a:pt x="13208" y="10160"/>
                    <a:pt x="12192" y="10795"/>
                    <a:pt x="11303" y="11684"/>
                  </a:cubicBezTo>
                  <a:lnTo>
                    <a:pt x="8128" y="8509"/>
                  </a:lnTo>
                  <a:lnTo>
                    <a:pt x="11303" y="11684"/>
                  </a:lnTo>
                  <a:cubicBezTo>
                    <a:pt x="10414" y="12573"/>
                    <a:pt x="9779" y="13589"/>
                    <a:pt x="9271" y="14605"/>
                  </a:cubicBezTo>
                  <a:cubicBezTo>
                    <a:pt x="9271" y="14605"/>
                    <a:pt x="9271" y="14605"/>
                    <a:pt x="9271" y="14605"/>
                  </a:cubicBezTo>
                  <a:cubicBezTo>
                    <a:pt x="8763" y="15748"/>
                    <a:pt x="8636" y="16891"/>
                    <a:pt x="8636" y="18161"/>
                  </a:cubicBezTo>
                  <a:cubicBezTo>
                    <a:pt x="8636" y="19431"/>
                    <a:pt x="8890" y="20574"/>
                    <a:pt x="9271" y="21717"/>
                  </a:cubicBezTo>
                  <a:cubicBezTo>
                    <a:pt x="9271" y="21717"/>
                    <a:pt x="9271" y="21717"/>
                    <a:pt x="9271" y="21717"/>
                  </a:cubicBezTo>
                  <a:cubicBezTo>
                    <a:pt x="9779" y="22860"/>
                    <a:pt x="10414" y="23876"/>
                    <a:pt x="11303" y="24638"/>
                  </a:cubicBezTo>
                  <a:lnTo>
                    <a:pt x="8128" y="27813"/>
                  </a:lnTo>
                  <a:lnTo>
                    <a:pt x="11303" y="24638"/>
                  </a:lnTo>
                  <a:cubicBezTo>
                    <a:pt x="12192" y="25527"/>
                    <a:pt x="13208" y="26162"/>
                    <a:pt x="14351" y="26670"/>
                  </a:cubicBezTo>
                  <a:lnTo>
                    <a:pt x="12700" y="30734"/>
                  </a:lnTo>
                  <a:lnTo>
                    <a:pt x="14351" y="26670"/>
                  </a:lnTo>
                  <a:cubicBezTo>
                    <a:pt x="15494" y="27178"/>
                    <a:pt x="16637" y="27432"/>
                    <a:pt x="17907" y="27432"/>
                  </a:cubicBezTo>
                  <a:cubicBezTo>
                    <a:pt x="19177" y="27432"/>
                    <a:pt x="20320" y="27178"/>
                    <a:pt x="21463" y="26670"/>
                  </a:cubicBezTo>
                  <a:lnTo>
                    <a:pt x="23114" y="30734"/>
                  </a:lnTo>
                  <a:lnTo>
                    <a:pt x="21463" y="26670"/>
                  </a:lnTo>
                  <a:cubicBezTo>
                    <a:pt x="22606" y="26162"/>
                    <a:pt x="23622" y="25527"/>
                    <a:pt x="24511" y="24638"/>
                  </a:cubicBezTo>
                  <a:lnTo>
                    <a:pt x="27686" y="27813"/>
                  </a:lnTo>
                  <a:lnTo>
                    <a:pt x="24511" y="24638"/>
                  </a:lnTo>
                  <a:cubicBezTo>
                    <a:pt x="25400" y="23749"/>
                    <a:pt x="26035" y="22733"/>
                    <a:pt x="26543" y="21717"/>
                  </a:cubicBezTo>
                  <a:cubicBezTo>
                    <a:pt x="26543" y="21717"/>
                    <a:pt x="26543" y="21717"/>
                    <a:pt x="26543" y="21717"/>
                  </a:cubicBezTo>
                  <a:cubicBezTo>
                    <a:pt x="27051" y="20574"/>
                    <a:pt x="27178" y="19431"/>
                    <a:pt x="27178" y="18161"/>
                  </a:cubicBez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971241" y="649935"/>
              <a:ext cx="10263" cy="10009"/>
            </a:xfrm>
            <a:custGeom>
              <a:avLst/>
              <a:gdLst/>
              <a:ahLst/>
              <a:cxnLst/>
              <a:rect l="l" t="t" r="r" b="b"/>
              <a:pathLst>
                <a:path w="10263" h="10009">
                  <a:moveTo>
                    <a:pt x="1702" y="2083"/>
                  </a:moveTo>
                  <a:lnTo>
                    <a:pt x="3099" y="940"/>
                  </a:lnTo>
                  <a:cubicBezTo>
                    <a:pt x="5004" y="-584"/>
                    <a:pt x="7798" y="-203"/>
                    <a:pt x="9322" y="1702"/>
                  </a:cubicBezTo>
                  <a:cubicBezTo>
                    <a:pt x="10846" y="3607"/>
                    <a:pt x="10465" y="6401"/>
                    <a:pt x="8560" y="7925"/>
                  </a:cubicBezTo>
                  <a:lnTo>
                    <a:pt x="7163" y="9068"/>
                  </a:lnTo>
                  <a:cubicBezTo>
                    <a:pt x="5258" y="10592"/>
                    <a:pt x="2464" y="10211"/>
                    <a:pt x="940" y="8306"/>
                  </a:cubicBezTo>
                  <a:cubicBezTo>
                    <a:pt x="-584" y="6401"/>
                    <a:pt x="-203" y="3607"/>
                    <a:pt x="1702" y="2083"/>
                  </a:cubicBez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3065256" y="732599"/>
              <a:ext cx="47658" cy="47752"/>
            </a:xfrm>
            <a:custGeom>
              <a:avLst/>
              <a:gdLst/>
              <a:ahLst/>
              <a:cxnLst/>
              <a:rect l="l" t="t" r="r" b="b"/>
              <a:pathLst>
                <a:path w="47658" h="47752">
                  <a:moveTo>
                    <a:pt x="1286" y="40196"/>
                  </a:moveTo>
                  <a:lnTo>
                    <a:pt x="40148" y="1334"/>
                  </a:lnTo>
                  <a:cubicBezTo>
                    <a:pt x="41926" y="-444"/>
                    <a:pt x="44720" y="-444"/>
                    <a:pt x="46371" y="1334"/>
                  </a:cubicBezTo>
                  <a:cubicBezTo>
                    <a:pt x="48022" y="3112"/>
                    <a:pt x="48149" y="5906"/>
                    <a:pt x="46371" y="7557"/>
                  </a:cubicBezTo>
                  <a:lnTo>
                    <a:pt x="7509" y="46419"/>
                  </a:lnTo>
                  <a:cubicBezTo>
                    <a:pt x="5731" y="48197"/>
                    <a:pt x="2937" y="48197"/>
                    <a:pt x="1286" y="46419"/>
                  </a:cubicBezTo>
                  <a:cubicBezTo>
                    <a:pt x="-365" y="44641"/>
                    <a:pt x="-492" y="41847"/>
                    <a:pt x="1286" y="40196"/>
                  </a:cubicBez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3034220" y="609711"/>
              <a:ext cx="67691" cy="67851"/>
            </a:xfrm>
            <a:custGeom>
              <a:avLst/>
              <a:gdLst/>
              <a:ahLst/>
              <a:cxnLst/>
              <a:rect l="l" t="t" r="r" b="b"/>
              <a:pathLst>
                <a:path w="67691" h="67851">
                  <a:moveTo>
                    <a:pt x="60135" y="66564"/>
                  </a:moveTo>
                  <a:lnTo>
                    <a:pt x="1334" y="7509"/>
                  </a:lnTo>
                  <a:cubicBezTo>
                    <a:pt x="-444" y="5731"/>
                    <a:pt x="-444" y="2937"/>
                    <a:pt x="1334" y="1286"/>
                  </a:cubicBezTo>
                  <a:cubicBezTo>
                    <a:pt x="3112" y="-365"/>
                    <a:pt x="5906" y="-492"/>
                    <a:pt x="7557" y="1286"/>
                  </a:cubicBezTo>
                  <a:lnTo>
                    <a:pt x="66358" y="60341"/>
                  </a:lnTo>
                  <a:cubicBezTo>
                    <a:pt x="68136" y="62119"/>
                    <a:pt x="68136" y="64913"/>
                    <a:pt x="66358" y="66564"/>
                  </a:cubicBezTo>
                  <a:cubicBezTo>
                    <a:pt x="64580" y="68215"/>
                    <a:pt x="61786" y="68342"/>
                    <a:pt x="60135" y="66564"/>
                  </a:cubicBez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2999296" y="602345"/>
              <a:ext cx="87376" cy="87409"/>
            </a:xfrm>
            <a:custGeom>
              <a:avLst/>
              <a:gdLst/>
              <a:ahLst/>
              <a:cxnLst/>
              <a:rect l="l" t="t" r="r" b="b"/>
              <a:pathLst>
                <a:path w="87376" h="87409">
                  <a:moveTo>
                    <a:pt x="79819" y="86122"/>
                  </a:moveTo>
                  <a:lnTo>
                    <a:pt x="1333" y="7509"/>
                  </a:lnTo>
                  <a:cubicBezTo>
                    <a:pt x="-445" y="5731"/>
                    <a:pt x="-445" y="2937"/>
                    <a:pt x="1333" y="1286"/>
                  </a:cubicBezTo>
                  <a:cubicBezTo>
                    <a:pt x="3111" y="-365"/>
                    <a:pt x="5905" y="-492"/>
                    <a:pt x="7556" y="1286"/>
                  </a:cubicBezTo>
                  <a:lnTo>
                    <a:pt x="86042" y="79899"/>
                  </a:lnTo>
                  <a:cubicBezTo>
                    <a:pt x="87820" y="81677"/>
                    <a:pt x="87820" y="84471"/>
                    <a:pt x="86042" y="86122"/>
                  </a:cubicBezTo>
                  <a:cubicBezTo>
                    <a:pt x="84264" y="87773"/>
                    <a:pt x="81470" y="87900"/>
                    <a:pt x="79819" y="86122"/>
                  </a:cubicBez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2923984" y="696198"/>
              <a:ext cx="80010" cy="80043"/>
            </a:xfrm>
            <a:custGeom>
              <a:avLst/>
              <a:gdLst/>
              <a:ahLst/>
              <a:cxnLst/>
              <a:rect l="l" t="t" r="r" b="b"/>
              <a:pathLst>
                <a:path w="80010" h="80043">
                  <a:moveTo>
                    <a:pt x="72454" y="78756"/>
                  </a:moveTo>
                  <a:lnTo>
                    <a:pt x="1334" y="7509"/>
                  </a:lnTo>
                  <a:cubicBezTo>
                    <a:pt x="-444" y="5731"/>
                    <a:pt x="-444" y="2937"/>
                    <a:pt x="1334" y="1286"/>
                  </a:cubicBezTo>
                  <a:cubicBezTo>
                    <a:pt x="3112" y="-365"/>
                    <a:pt x="5906" y="-492"/>
                    <a:pt x="7557" y="1286"/>
                  </a:cubicBezTo>
                  <a:lnTo>
                    <a:pt x="78677" y="72533"/>
                  </a:lnTo>
                  <a:cubicBezTo>
                    <a:pt x="80455" y="74311"/>
                    <a:pt x="80455" y="77105"/>
                    <a:pt x="78677" y="78756"/>
                  </a:cubicBezTo>
                  <a:cubicBezTo>
                    <a:pt x="76899" y="80407"/>
                    <a:pt x="74105" y="80534"/>
                    <a:pt x="72454" y="78756"/>
                  </a:cubicBez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916619" y="674061"/>
              <a:ext cx="16272" cy="30996"/>
            </a:xfrm>
            <a:custGeom>
              <a:avLst/>
              <a:gdLst/>
              <a:ahLst/>
              <a:cxnLst/>
              <a:rect l="l" t="t" r="r" b="b"/>
              <a:pathLst>
                <a:path w="16272" h="30996">
                  <a:moveTo>
                    <a:pt x="8699" y="29773"/>
                  </a:moveTo>
                  <a:cubicBezTo>
                    <a:pt x="-572" y="20883"/>
                    <a:pt x="-699" y="11866"/>
                    <a:pt x="571" y="3738"/>
                  </a:cubicBezTo>
                  <a:cubicBezTo>
                    <a:pt x="952" y="1325"/>
                    <a:pt x="3238" y="-326"/>
                    <a:pt x="5651" y="55"/>
                  </a:cubicBezTo>
                  <a:cubicBezTo>
                    <a:pt x="8064" y="436"/>
                    <a:pt x="9715" y="2722"/>
                    <a:pt x="9334" y="5135"/>
                  </a:cubicBezTo>
                  <a:cubicBezTo>
                    <a:pt x="8318" y="11739"/>
                    <a:pt x="8445" y="17327"/>
                    <a:pt x="14922" y="23423"/>
                  </a:cubicBezTo>
                  <a:cubicBezTo>
                    <a:pt x="16700" y="25074"/>
                    <a:pt x="16700" y="27868"/>
                    <a:pt x="15049" y="29646"/>
                  </a:cubicBezTo>
                  <a:cubicBezTo>
                    <a:pt x="13398" y="31424"/>
                    <a:pt x="10604" y="31424"/>
                    <a:pt x="8826" y="29773"/>
                  </a:cubicBez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2917166" y="618212"/>
              <a:ext cx="15034" cy="64564"/>
            </a:xfrm>
            <a:custGeom>
              <a:avLst/>
              <a:gdLst/>
              <a:ahLst/>
              <a:cxnLst/>
              <a:rect l="l" t="t" r="r" b="b"/>
              <a:pathLst>
                <a:path w="15034" h="64564">
                  <a:moveTo>
                    <a:pt x="24" y="59714"/>
                  </a:moveTo>
                  <a:lnTo>
                    <a:pt x="6247" y="3961"/>
                  </a:lnTo>
                  <a:cubicBezTo>
                    <a:pt x="6501" y="1548"/>
                    <a:pt x="8660" y="-230"/>
                    <a:pt x="11073" y="24"/>
                  </a:cubicBezTo>
                  <a:cubicBezTo>
                    <a:pt x="13486" y="278"/>
                    <a:pt x="15264" y="2437"/>
                    <a:pt x="15010" y="4850"/>
                  </a:cubicBezTo>
                  <a:lnTo>
                    <a:pt x="8787" y="60603"/>
                  </a:lnTo>
                  <a:cubicBezTo>
                    <a:pt x="8533" y="63016"/>
                    <a:pt x="6374" y="64794"/>
                    <a:pt x="3961" y="64540"/>
                  </a:cubicBezTo>
                  <a:cubicBezTo>
                    <a:pt x="1548" y="64286"/>
                    <a:pt x="-230" y="62127"/>
                    <a:pt x="24" y="59714"/>
                  </a:cubicBez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2923413" y="602070"/>
              <a:ext cx="29435" cy="25062"/>
            </a:xfrm>
            <a:custGeom>
              <a:avLst/>
              <a:gdLst/>
              <a:ahLst/>
              <a:cxnLst/>
              <a:rect l="l" t="t" r="r" b="b"/>
              <a:pathLst>
                <a:path w="29435" h="25062">
                  <a:moveTo>
                    <a:pt x="0" y="20484"/>
                  </a:moveTo>
                  <a:cubicBezTo>
                    <a:pt x="127" y="17309"/>
                    <a:pt x="889" y="14388"/>
                    <a:pt x="2413" y="11594"/>
                  </a:cubicBezTo>
                  <a:lnTo>
                    <a:pt x="6350" y="13626"/>
                  </a:lnTo>
                  <a:lnTo>
                    <a:pt x="2413" y="11594"/>
                  </a:lnTo>
                  <a:cubicBezTo>
                    <a:pt x="3810" y="8800"/>
                    <a:pt x="5842" y="6387"/>
                    <a:pt x="8255" y="4482"/>
                  </a:cubicBezTo>
                  <a:cubicBezTo>
                    <a:pt x="8255" y="4482"/>
                    <a:pt x="8255" y="4482"/>
                    <a:pt x="8255" y="4482"/>
                  </a:cubicBezTo>
                  <a:cubicBezTo>
                    <a:pt x="10668" y="2577"/>
                    <a:pt x="13462" y="1180"/>
                    <a:pt x="16637" y="545"/>
                  </a:cubicBezTo>
                  <a:cubicBezTo>
                    <a:pt x="16637" y="545"/>
                    <a:pt x="16637" y="545"/>
                    <a:pt x="16637" y="545"/>
                  </a:cubicBezTo>
                  <a:cubicBezTo>
                    <a:pt x="19685" y="-90"/>
                    <a:pt x="22733" y="-217"/>
                    <a:pt x="25908" y="418"/>
                  </a:cubicBezTo>
                  <a:cubicBezTo>
                    <a:pt x="28321" y="926"/>
                    <a:pt x="29845" y="3212"/>
                    <a:pt x="29337" y="5625"/>
                  </a:cubicBezTo>
                  <a:cubicBezTo>
                    <a:pt x="28829" y="8038"/>
                    <a:pt x="26543" y="9562"/>
                    <a:pt x="24130" y="9054"/>
                  </a:cubicBezTo>
                  <a:cubicBezTo>
                    <a:pt x="22352" y="8673"/>
                    <a:pt x="20574" y="8673"/>
                    <a:pt x="18669" y="9181"/>
                  </a:cubicBezTo>
                  <a:lnTo>
                    <a:pt x="17653" y="4863"/>
                  </a:lnTo>
                  <a:lnTo>
                    <a:pt x="18669" y="9181"/>
                  </a:lnTo>
                  <a:cubicBezTo>
                    <a:pt x="16891" y="9562"/>
                    <a:pt x="15240" y="10324"/>
                    <a:pt x="13716" y="11467"/>
                  </a:cubicBezTo>
                  <a:lnTo>
                    <a:pt x="11049" y="8038"/>
                  </a:lnTo>
                  <a:lnTo>
                    <a:pt x="13716" y="11467"/>
                  </a:lnTo>
                  <a:cubicBezTo>
                    <a:pt x="12192" y="12610"/>
                    <a:pt x="11049" y="14007"/>
                    <a:pt x="10287" y="15658"/>
                  </a:cubicBezTo>
                  <a:cubicBezTo>
                    <a:pt x="10287" y="15658"/>
                    <a:pt x="10287" y="15658"/>
                    <a:pt x="10287" y="15658"/>
                  </a:cubicBezTo>
                  <a:cubicBezTo>
                    <a:pt x="9398" y="17309"/>
                    <a:pt x="9017" y="19087"/>
                    <a:pt x="8890" y="20865"/>
                  </a:cubicBezTo>
                  <a:cubicBezTo>
                    <a:pt x="8763" y="23278"/>
                    <a:pt x="6731" y="25183"/>
                    <a:pt x="4318" y="25056"/>
                  </a:cubicBezTo>
                  <a:cubicBezTo>
                    <a:pt x="1905" y="24929"/>
                    <a:pt x="0" y="22897"/>
                    <a:pt x="127" y="20484"/>
                  </a:cubicBez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2943860" y="602107"/>
              <a:ext cx="64262" cy="9144"/>
            </a:xfrm>
            <a:custGeom>
              <a:avLst/>
              <a:gdLst/>
              <a:ahLst/>
              <a:cxnLst/>
              <a:rect l="l" t="t" r="r" b="b"/>
              <a:pathLst>
                <a:path w="64262" h="9144">
                  <a:moveTo>
                    <a:pt x="4445" y="0"/>
                  </a:moveTo>
                  <a:lnTo>
                    <a:pt x="59817" y="254"/>
                  </a:lnTo>
                  <a:cubicBezTo>
                    <a:pt x="62230" y="254"/>
                    <a:pt x="64262" y="2286"/>
                    <a:pt x="64262" y="4699"/>
                  </a:cubicBezTo>
                  <a:cubicBezTo>
                    <a:pt x="64262" y="7112"/>
                    <a:pt x="62230" y="9144"/>
                    <a:pt x="59817" y="9144"/>
                  </a:cubicBezTo>
                  <a:lnTo>
                    <a:pt x="4445" y="8890"/>
                  </a:lnTo>
                  <a:cubicBezTo>
                    <a:pt x="2032" y="8890"/>
                    <a:pt x="0" y="6858"/>
                    <a:pt x="0" y="4445"/>
                  </a:cubicBezTo>
                  <a:cubicBezTo>
                    <a:pt x="0" y="2032"/>
                    <a:pt x="2032" y="0"/>
                    <a:pt x="4445" y="0"/>
                  </a:cubicBezTo>
                  <a:close/>
                </a:path>
              </a:pathLst>
            </a:custGeom>
            <a:solidFill>
              <a:srgbClr val="ADB5BD"/>
            </a:solidFill>
          </p:spPr>
        </p:sp>
      </p:grpSp>
      <p:sp>
        <p:nvSpPr>
          <p:cNvPr id="37" name="TextBox 37"/>
          <p:cNvSpPr txBox="1"/>
          <p:nvPr/>
        </p:nvSpPr>
        <p:spPr>
          <a:xfrm>
            <a:off x="4906413" y="393287"/>
            <a:ext cx="3752650" cy="1031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3139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Category Insights: Breakdown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346003" y="1639681"/>
            <a:ext cx="53883" cy="468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4"/>
              </a:lnSpc>
            </a:pPr>
            <a:r>
              <a:rPr lang="en-US" sz="1569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426126" y="1753981"/>
            <a:ext cx="1706470" cy="353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569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Women's Section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215367" y="2131609"/>
            <a:ext cx="32528" cy="305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255" b="1">
                <a:solidFill>
                  <a:srgbClr val="F6F0E4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28412" y="3020806"/>
            <a:ext cx="1448105" cy="353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569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Top Placement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25007" y="3398434"/>
            <a:ext cx="32528" cy="305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255" b="1">
                <a:solidFill>
                  <a:srgbClr val="F6F0E4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702126" y="1753981"/>
            <a:ext cx="1533068" cy="353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569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Promotion Split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530486" y="2131609"/>
            <a:ext cx="32528" cy="305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255" b="1">
                <a:solidFill>
                  <a:srgbClr val="F6F0E4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161359" y="4976717"/>
            <a:ext cx="774897" cy="905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255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Wool Cotton Wool Blend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10673" y="2122084"/>
            <a:ext cx="1329776" cy="639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1255" b="1">
                <a:solidFill>
                  <a:srgbClr val="E9EC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$598 M sales </a:t>
            </a:r>
          </a:p>
          <a:p>
            <a:pPr algn="ctr">
              <a:lnSpc>
                <a:spcPts val="2774"/>
              </a:lnSpc>
            </a:pPr>
            <a:r>
              <a:rPr lang="en-US" sz="1255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Clear market leader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190603" y="3388909"/>
            <a:ext cx="1117302" cy="31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255" b="1">
                <a:solidFill>
                  <a:srgbClr val="E9EC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Aisle&amp; End-Cap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246887" y="3738467"/>
            <a:ext cx="1002678" cy="31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255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Prime visibility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886530" y="2122084"/>
            <a:ext cx="1134368" cy="296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255" b="1">
                <a:solidFill>
                  <a:srgbClr val="E9EC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$300M vs $298M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913162" y="2471642"/>
            <a:ext cx="1102338" cy="31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255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Evenly balanced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951003" y="4776692"/>
            <a:ext cx="2794454" cy="76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255" b="1">
                <a:solidFill>
                  <a:srgbClr val="E9EC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Key Insight:</a:t>
            </a:r>
            <a:r>
              <a:rPr lang="en-US" sz="1255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Product placement strongly influences sales visibility and customer engagement in-store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906413" y="4518479"/>
            <a:ext cx="1646930" cy="34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6"/>
              </a:lnSpc>
            </a:pPr>
            <a:r>
              <a:rPr lang="en-US" sz="188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Top Materials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7973DED5-084D-4950-960D-2615E0532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47" y="0"/>
            <a:ext cx="4421736" cy="647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73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44348"/>
            <a:ext cx="11556997" cy="6565897"/>
            <a:chOff x="0" y="0"/>
            <a:chExt cx="11557000" cy="6565900"/>
          </a:xfrm>
        </p:grpSpPr>
        <p:sp>
          <p:nvSpPr>
            <p:cNvPr id="3" name="Freeform 3"/>
            <p:cNvSpPr/>
            <p:nvPr/>
          </p:nvSpPr>
          <p:spPr>
            <a:xfrm>
              <a:off x="63500" y="72771"/>
              <a:ext cx="11430000" cy="6429375"/>
            </a:xfrm>
            <a:custGeom>
              <a:avLst/>
              <a:gdLst/>
              <a:ahLst/>
              <a:cxnLst/>
              <a:rect l="l" t="t" r="r" b="b"/>
              <a:pathLst>
                <a:path w="11430000" h="6429375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1430000" cy="6438900"/>
            </a:xfrm>
            <a:custGeom>
              <a:avLst/>
              <a:gdLst/>
              <a:ahLst/>
              <a:cxnLst/>
              <a:rect l="l" t="t" r="r" b="b"/>
              <a:pathLst>
                <a:path w="11430000" h="64389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82625" y="3054096"/>
              <a:ext cx="3276600" cy="19050"/>
            </a:xfrm>
            <a:custGeom>
              <a:avLst/>
              <a:gdLst/>
              <a:ahLst/>
              <a:cxnLst/>
              <a:rect l="l" t="t" r="r" b="b"/>
              <a:pathLst>
                <a:path w="3276600" h="19050">
                  <a:moveTo>
                    <a:pt x="0" y="19050"/>
                  </a:moveTo>
                  <a:lnTo>
                    <a:pt x="3276600" y="19050"/>
                  </a:lnTo>
                  <a:lnTo>
                    <a:pt x="3276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4140200" y="3054096"/>
              <a:ext cx="3276600" cy="19050"/>
            </a:xfrm>
            <a:custGeom>
              <a:avLst/>
              <a:gdLst/>
              <a:ahLst/>
              <a:cxnLst/>
              <a:rect l="l" t="t" r="r" b="b"/>
              <a:pathLst>
                <a:path w="3276600" h="19050">
                  <a:moveTo>
                    <a:pt x="0" y="19050"/>
                  </a:moveTo>
                  <a:lnTo>
                    <a:pt x="3276600" y="19050"/>
                  </a:lnTo>
                  <a:lnTo>
                    <a:pt x="3276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7597775" y="3054096"/>
              <a:ext cx="3276600" cy="19050"/>
            </a:xfrm>
            <a:custGeom>
              <a:avLst/>
              <a:gdLst/>
              <a:ahLst/>
              <a:cxnLst/>
              <a:rect l="l" t="t" r="r" b="b"/>
              <a:pathLst>
                <a:path w="3276600" h="19050">
                  <a:moveTo>
                    <a:pt x="0" y="19050"/>
                  </a:moveTo>
                  <a:lnTo>
                    <a:pt x="3276600" y="19050"/>
                  </a:lnTo>
                  <a:lnTo>
                    <a:pt x="3276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82625" y="4720971"/>
              <a:ext cx="5010150" cy="19050"/>
            </a:xfrm>
            <a:custGeom>
              <a:avLst/>
              <a:gdLst/>
              <a:ahLst/>
              <a:cxnLst/>
              <a:rect l="l" t="t" r="r" b="b"/>
              <a:pathLst>
                <a:path w="5010150" h="19050">
                  <a:moveTo>
                    <a:pt x="0" y="19050"/>
                  </a:moveTo>
                  <a:lnTo>
                    <a:pt x="5010150" y="19050"/>
                  </a:lnTo>
                  <a:lnTo>
                    <a:pt x="5010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B5BD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864225" y="4720971"/>
              <a:ext cx="5010150" cy="19050"/>
            </a:xfrm>
            <a:custGeom>
              <a:avLst/>
              <a:gdLst/>
              <a:ahLst/>
              <a:cxnLst/>
              <a:rect l="l" t="t" r="r" b="b"/>
              <a:pathLst>
                <a:path w="5010150" h="19050">
                  <a:moveTo>
                    <a:pt x="0" y="19050"/>
                  </a:moveTo>
                  <a:lnTo>
                    <a:pt x="5010150" y="19050"/>
                  </a:lnTo>
                  <a:lnTo>
                    <a:pt x="5010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B5BD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594427" y="460424"/>
            <a:ext cx="8167383" cy="1195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20"/>
              </a:lnSpc>
            </a:pPr>
            <a:r>
              <a:rPr lang="en-US" sz="3488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Conclusion</a:t>
            </a:r>
          </a:p>
          <a:p>
            <a:pPr algn="l">
              <a:lnSpc>
                <a:spcPts val="5219"/>
              </a:lnSpc>
            </a:pPr>
            <a:r>
              <a:rPr lang="en-US" sz="431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Strategic Drivers of Success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3920" y="2208539"/>
            <a:ext cx="3206039" cy="243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E9ECEF"/>
                </a:solidFill>
                <a:latin typeface="Museo Moderno Light"/>
                <a:ea typeface="Museo Moderno Light"/>
                <a:cs typeface="Museo Moderno Light"/>
                <a:sym typeface="Museo Moderno Light"/>
              </a:rPr>
              <a:t>01 </a:t>
            </a:r>
          </a:p>
          <a:p>
            <a:pPr algn="l">
              <a:lnSpc>
                <a:spcPts val="2441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Women's Section Dominance</a:t>
            </a:r>
          </a:p>
          <a:p>
            <a:pPr algn="l">
              <a:lnSpc>
                <a:spcPts val="2250"/>
              </a:lnSpc>
            </a:pPr>
            <a:endParaRPr lang="en-US" sz="1743" b="1">
              <a:solidFill>
                <a:srgbClr val="E9ECEF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Performance drivenby women'scategory and seasonal demand cycles</a:t>
            </a:r>
          </a:p>
          <a:p>
            <a:pPr algn="l">
              <a:lnSpc>
                <a:spcPts val="1282"/>
              </a:lnSpc>
            </a:pPr>
            <a:endParaRPr lang="en-US" sz="1394">
              <a:solidFill>
                <a:srgbClr val="E9EC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14"/>
              </a:lnSpc>
            </a:pPr>
            <a:endParaRPr lang="en-US" sz="1394">
              <a:solidFill>
                <a:srgbClr val="E9EC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1952"/>
              </a:lnSpc>
            </a:pPr>
            <a:r>
              <a:rPr lang="en-US" sz="1394">
                <a:solidFill>
                  <a:srgbClr val="E9ECEF"/>
                </a:solidFill>
                <a:latin typeface="Museo Moderno Light"/>
                <a:ea typeface="Museo Moderno Light"/>
                <a:cs typeface="Museo Moderno Light"/>
                <a:sym typeface="Museo Moderno Light"/>
              </a:rPr>
              <a:t>04</a:t>
            </a:r>
          </a:p>
          <a:p>
            <a:pPr algn="l">
              <a:lnSpc>
                <a:spcPts val="3037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Price Band Optimization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08030" y="2212762"/>
            <a:ext cx="3059049" cy="1619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E9ECEF"/>
                </a:solidFill>
                <a:latin typeface="Museo Moderno Light"/>
                <a:ea typeface="Museo Moderno Light"/>
                <a:cs typeface="Museo Moderno Light"/>
                <a:sym typeface="Museo Moderno Light"/>
              </a:rPr>
              <a:t>02 </a:t>
            </a:r>
          </a:p>
          <a:p>
            <a:pPr algn="l">
              <a:lnSpc>
                <a:spcPts val="2441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Promotion Power</a:t>
            </a:r>
          </a:p>
          <a:p>
            <a:pPr algn="l">
              <a:lnSpc>
                <a:spcPts val="2250"/>
              </a:lnSpc>
            </a:pPr>
            <a:endParaRPr lang="en-US" sz="1743" b="1">
              <a:solidFill>
                <a:srgbClr val="E9ECEF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Promotions heavily influence sales uplift and product visibility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3681" y="2068590"/>
            <a:ext cx="2108711" cy="87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E9ECEF"/>
                </a:solidFill>
                <a:latin typeface="Museo Moderno Light"/>
                <a:ea typeface="Museo Moderno Light"/>
                <a:cs typeface="Museo Moderno Light"/>
                <a:sym typeface="Museo Moderno Light"/>
              </a:rPr>
              <a:t>03</a:t>
            </a:r>
          </a:p>
          <a:p>
            <a:pPr algn="l">
              <a:lnSpc>
                <a:spcPts val="3037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Material Excellence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91899" y="2466482"/>
            <a:ext cx="59855" cy="411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03554" y="4068318"/>
            <a:ext cx="2186730" cy="72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394">
                <a:solidFill>
                  <a:srgbClr val="E9ECEF"/>
                </a:solidFill>
                <a:latin typeface="Museo Moderno Light"/>
                <a:ea typeface="Museo Moderno Light"/>
                <a:cs typeface="Museo Moderno Light"/>
                <a:sym typeface="Museo Moderno Light"/>
              </a:rPr>
              <a:t>05</a:t>
            </a:r>
          </a:p>
          <a:p>
            <a:pPr algn="l">
              <a:lnSpc>
                <a:spcPts val="3037"/>
              </a:lnSpc>
            </a:pPr>
            <a:r>
              <a:rPr lang="en-US" sz="1743" b="1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Placement Strategy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21791" y="5072329"/>
            <a:ext cx="36138" cy="33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94784" y="5072329"/>
            <a:ext cx="36138" cy="33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05339" y="2895517"/>
            <a:ext cx="36138" cy="33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3920" y="4779849"/>
            <a:ext cx="3993356" cy="24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Medium price band products contribute most revenue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80797" y="2988802"/>
            <a:ext cx="3298431" cy="841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endParaRPr/>
          </a:p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Wool and Cotton emerge a stop-performing materials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69462" y="4779849"/>
            <a:ext cx="4825901" cy="24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394">
                <a:solidFill>
                  <a:srgbClr val="E9EC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Store placement (Aisle³End-Cap) plays major role in sales success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73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44348"/>
            <a:ext cx="11556997" cy="6565897"/>
            <a:chOff x="0" y="0"/>
            <a:chExt cx="11557000" cy="6565900"/>
          </a:xfrm>
        </p:grpSpPr>
        <p:sp>
          <p:nvSpPr>
            <p:cNvPr id="3" name="Freeform 3"/>
            <p:cNvSpPr/>
            <p:nvPr/>
          </p:nvSpPr>
          <p:spPr>
            <a:xfrm>
              <a:off x="63500" y="72771"/>
              <a:ext cx="11430000" cy="6429375"/>
            </a:xfrm>
            <a:custGeom>
              <a:avLst/>
              <a:gdLst/>
              <a:ahLst/>
              <a:cxnLst/>
              <a:rect l="l" t="t" r="r" b="b"/>
              <a:pathLst>
                <a:path w="11430000" h="6429375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1430000" cy="6438900"/>
            </a:xfrm>
            <a:custGeom>
              <a:avLst/>
              <a:gdLst/>
              <a:ahLst/>
              <a:cxnLst/>
              <a:rect l="l" t="t" r="r" b="b"/>
              <a:pathLst>
                <a:path w="11430000" h="64389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2057400" y="2019300"/>
            <a:ext cx="7572432" cy="1816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650"/>
              </a:lnSpc>
            </a:pPr>
            <a:r>
              <a:rPr lang="en-US" sz="10464" b="1" dirty="0">
                <a:solidFill>
                  <a:srgbClr val="E9ECE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397</Words>
  <Application>Microsoft Office PowerPoint</Application>
  <PresentationFormat>Custom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</vt:lpstr>
      <vt:lpstr>Museo Moderno Medium</vt:lpstr>
      <vt:lpstr>Museo Moderno Bold</vt:lpstr>
      <vt:lpstr>Source Sans 3 Bold</vt:lpstr>
      <vt:lpstr>Arial</vt:lpstr>
      <vt:lpstr>Source Sans 3</vt:lpstr>
      <vt:lpstr>Museo Moderno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ZARA-Sales-Analysis-Dashboard.pdf</dc:title>
  <cp:lastModifiedBy>Rupnath Shaw</cp:lastModifiedBy>
  <cp:revision>4</cp:revision>
  <dcterms:created xsi:type="dcterms:W3CDTF">2006-08-16T00:00:00Z</dcterms:created>
  <dcterms:modified xsi:type="dcterms:W3CDTF">2025-12-02T15:52:18Z</dcterms:modified>
  <dc:identifier>DAG5Q5733hM</dc:identifier>
</cp:coreProperties>
</file>